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0524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51F4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0524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51F4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0524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0524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2746" y="139347"/>
            <a:ext cx="15569432" cy="2076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05245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1328" y="2623608"/>
            <a:ext cx="7472044" cy="2065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51F4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image" Target="../media/image11.jpg"/><Relationship Id="rId11" Type="http://schemas.openxmlformats.org/officeDocument/2006/relationships/image" Target="../media/image12.jpg"/><Relationship Id="rId12" Type="http://schemas.openxmlformats.org/officeDocument/2006/relationships/image" Target="../media/image13.jpg"/><Relationship Id="rId13" Type="http://schemas.openxmlformats.org/officeDocument/2006/relationships/image" Target="../media/image14.jpg"/><Relationship Id="rId14" Type="http://schemas.openxmlformats.org/officeDocument/2006/relationships/image" Target="../media/image15.jpg"/><Relationship Id="rId15" Type="http://schemas.openxmlformats.org/officeDocument/2006/relationships/image" Target="../media/image16.jpg"/><Relationship Id="rId16" Type="http://schemas.openxmlformats.org/officeDocument/2006/relationships/image" Target="../media/image17.jpg"/><Relationship Id="rId17" Type="http://schemas.openxmlformats.org/officeDocument/2006/relationships/image" Target="../media/image1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jpg"/><Relationship Id="rId8" Type="http://schemas.openxmlformats.org/officeDocument/2006/relationships/image" Target="../media/image2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png"/><Relationship Id="rId10" Type="http://schemas.openxmlformats.org/officeDocument/2006/relationships/image" Target="../media/image39.jpg"/><Relationship Id="rId11" Type="http://schemas.openxmlformats.org/officeDocument/2006/relationships/image" Target="../media/image40.jpg"/><Relationship Id="rId12" Type="http://schemas.openxmlformats.org/officeDocument/2006/relationships/image" Target="../media/image41.png"/><Relationship Id="rId13" Type="http://schemas.openxmlformats.org/officeDocument/2006/relationships/image" Target="../media/image42.jpg"/><Relationship Id="rId14" Type="http://schemas.openxmlformats.org/officeDocument/2006/relationships/image" Target="../media/image43.jpg"/><Relationship Id="rId15" Type="http://schemas.openxmlformats.org/officeDocument/2006/relationships/image" Target="../media/image44.jpg"/><Relationship Id="rId16" Type="http://schemas.openxmlformats.org/officeDocument/2006/relationships/image" Target="../media/image45.jpg"/><Relationship Id="rId17" Type="http://schemas.openxmlformats.org/officeDocument/2006/relationships/image" Target="../media/image46.jpg"/><Relationship Id="rId18" Type="http://schemas.openxmlformats.org/officeDocument/2006/relationships/image" Target="../media/image47.jpg"/><Relationship Id="rId19" Type="http://schemas.openxmlformats.org/officeDocument/2006/relationships/image" Target="../media/image48.jpg"/><Relationship Id="rId20" Type="http://schemas.openxmlformats.org/officeDocument/2006/relationships/image" Target="../media/image49.jpg"/><Relationship Id="rId21" Type="http://schemas.openxmlformats.org/officeDocument/2006/relationships/image" Target="../media/image50.jpg"/><Relationship Id="rId22" Type="http://schemas.openxmlformats.org/officeDocument/2006/relationships/image" Target="../media/image51.jpg"/><Relationship Id="rId23" Type="http://schemas.openxmlformats.org/officeDocument/2006/relationships/image" Target="../media/image52.jpg"/><Relationship Id="rId24" Type="http://schemas.openxmlformats.org/officeDocument/2006/relationships/image" Target="../media/image5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pn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Relationship Id="rId4" Type="http://schemas.openxmlformats.org/officeDocument/2006/relationships/image" Target="../media/image7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0" y="1485900"/>
            <a:ext cx="762000" cy="482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4700" y="723900"/>
            <a:ext cx="7429500" cy="86106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3600" y="6868583"/>
            <a:ext cx="2404745" cy="0"/>
          </a:xfrm>
          <a:custGeom>
            <a:avLst/>
            <a:gdLst/>
            <a:ahLst/>
            <a:cxnLst/>
            <a:rect l="l" t="t" r="r" b="b"/>
            <a:pathLst>
              <a:path w="2404745" h="0">
                <a:moveTo>
                  <a:pt x="0" y="0"/>
                </a:moveTo>
                <a:lnTo>
                  <a:pt x="2404533" y="0"/>
                </a:lnTo>
              </a:path>
            </a:pathLst>
          </a:custGeom>
          <a:ln w="29633">
            <a:solidFill>
              <a:srgbClr val="6B77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21200" y="6868583"/>
            <a:ext cx="1515745" cy="0"/>
          </a:xfrm>
          <a:custGeom>
            <a:avLst/>
            <a:gdLst/>
            <a:ahLst/>
            <a:cxnLst/>
            <a:rect l="l" t="t" r="r" b="b"/>
            <a:pathLst>
              <a:path w="1515745" h="0">
                <a:moveTo>
                  <a:pt x="0" y="0"/>
                </a:moveTo>
                <a:lnTo>
                  <a:pt x="1515533" y="0"/>
                </a:lnTo>
              </a:path>
            </a:pathLst>
          </a:custGeom>
          <a:ln w="29633">
            <a:solidFill>
              <a:srgbClr val="7077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63600" y="6121400"/>
            <a:ext cx="8102600" cy="0"/>
          </a:xfrm>
          <a:custGeom>
            <a:avLst/>
            <a:gdLst/>
            <a:ahLst/>
            <a:cxnLst/>
            <a:rect l="l" t="t" r="r" b="b"/>
            <a:pathLst>
              <a:path w="8102600" h="0">
                <a:moveTo>
                  <a:pt x="0" y="0"/>
                </a:moveTo>
                <a:lnTo>
                  <a:pt x="8102600" y="0"/>
                </a:lnTo>
              </a:path>
            </a:pathLst>
          </a:custGeom>
          <a:ln w="25400">
            <a:solidFill>
              <a:srgbClr val="6772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29124" y="778227"/>
            <a:ext cx="479869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280">
                <a:solidFill>
                  <a:srgbClr val="0F0F0F"/>
                </a:solidFill>
                <a:latin typeface="Arial MT"/>
                <a:cs typeface="Arial MT"/>
              </a:rPr>
              <a:t>PROJET</a:t>
            </a:r>
            <a:r>
              <a:rPr dirty="0" sz="2200" spc="1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200" spc="-310">
                <a:solidFill>
                  <a:srgbClr val="000A18"/>
                </a:solidFill>
                <a:latin typeface="Arial MT"/>
                <a:cs typeface="Arial MT"/>
              </a:rPr>
              <a:t>DE</a:t>
            </a:r>
            <a:r>
              <a:rPr dirty="0" sz="2200" spc="-75">
                <a:solidFill>
                  <a:srgbClr val="000A18"/>
                </a:solidFill>
                <a:latin typeface="Arial MT"/>
                <a:cs typeface="Arial MT"/>
              </a:rPr>
              <a:t> </a:t>
            </a:r>
            <a:r>
              <a:rPr dirty="0" sz="2200" spc="-190">
                <a:solidFill>
                  <a:srgbClr val="111111"/>
                </a:solidFill>
                <a:latin typeface="Arial MT"/>
                <a:cs typeface="Arial MT"/>
              </a:rPr>
              <a:t>FIN</a:t>
            </a:r>
            <a:r>
              <a:rPr dirty="0" sz="22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200" spc="-254">
                <a:solidFill>
                  <a:srgbClr val="111111"/>
                </a:solidFill>
                <a:latin typeface="Arial MT"/>
                <a:cs typeface="Arial MT"/>
              </a:rPr>
              <a:t>D'ÉTUDES</a:t>
            </a:r>
            <a:r>
              <a:rPr dirty="0" sz="2200" spc="1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200" spc="-375">
                <a:solidFill>
                  <a:srgbClr val="0C0C0C"/>
                </a:solidFill>
                <a:latin typeface="Arial MT"/>
                <a:cs typeface="Arial MT"/>
              </a:rPr>
              <a:t>—</a:t>
            </a:r>
            <a:r>
              <a:rPr dirty="0" sz="2200" spc="-1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200" spc="-275">
                <a:solidFill>
                  <a:srgbClr val="0C0C0C"/>
                </a:solidFill>
                <a:latin typeface="Arial MT"/>
                <a:cs typeface="Arial MT"/>
              </a:rPr>
              <a:t>RADIOLOCIE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25400" y="1243894"/>
            <a:ext cx="7600950" cy="30568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ts val="6205"/>
              </a:lnSpc>
              <a:spcBef>
                <a:spcPts val="105"/>
              </a:spcBef>
            </a:pPr>
            <a:r>
              <a:rPr dirty="0" sz="5550" spc="105">
                <a:solidFill>
                  <a:srgbClr val="11263F"/>
                </a:solidFill>
              </a:rPr>
              <a:t>Contribution</a:t>
            </a:r>
            <a:endParaRPr sz="5550"/>
          </a:p>
          <a:p>
            <a:pPr marL="12700" marR="5080">
              <a:lnSpc>
                <a:spcPct val="86000"/>
              </a:lnSpc>
              <a:spcBef>
                <a:spcPts val="475"/>
              </a:spcBef>
            </a:pPr>
            <a:r>
              <a:rPr dirty="0" sz="5550" spc="95">
                <a:solidFill>
                  <a:srgbClr val="15243B"/>
                </a:solidFill>
              </a:rPr>
              <a:t>technicien</a:t>
            </a:r>
            <a:r>
              <a:rPr dirty="0" sz="5550" spc="-60">
                <a:solidFill>
                  <a:srgbClr val="15243B"/>
                </a:solidFill>
              </a:rPr>
              <a:t> </a:t>
            </a:r>
            <a:r>
              <a:rPr dirty="0" sz="5550" spc="90">
                <a:solidFill>
                  <a:srgbClr val="182D46"/>
                </a:solidFill>
              </a:rPr>
              <a:t>en</a:t>
            </a:r>
            <a:r>
              <a:rPr dirty="0" sz="5550" spc="-560">
                <a:solidFill>
                  <a:srgbClr val="182D46"/>
                </a:solidFill>
              </a:rPr>
              <a:t> </a:t>
            </a:r>
            <a:r>
              <a:rPr dirty="0" sz="5550" spc="55">
                <a:solidFill>
                  <a:srgbClr val="11233B"/>
                </a:solidFill>
              </a:rPr>
              <a:t>radiologie </a:t>
            </a:r>
            <a:r>
              <a:rPr dirty="0" sz="5550" spc="-130">
                <a:solidFill>
                  <a:srgbClr val="162B46"/>
                </a:solidFill>
              </a:rPr>
              <a:t>à</a:t>
            </a:r>
            <a:r>
              <a:rPr dirty="0" sz="5550" spc="-409">
                <a:solidFill>
                  <a:srgbClr val="162B46"/>
                </a:solidFill>
              </a:rPr>
              <a:t> </a:t>
            </a:r>
            <a:r>
              <a:rPr dirty="0" sz="5550" spc="145">
                <a:solidFill>
                  <a:srgbClr val="1A2D49"/>
                </a:solidFill>
              </a:rPr>
              <a:t>l'optimisation</a:t>
            </a:r>
            <a:r>
              <a:rPr dirty="0" sz="5550" spc="-700">
                <a:solidFill>
                  <a:srgbClr val="1A2D49"/>
                </a:solidFill>
              </a:rPr>
              <a:t> </a:t>
            </a:r>
            <a:r>
              <a:rPr dirty="0" sz="5550" spc="120">
                <a:solidFill>
                  <a:srgbClr val="162D49"/>
                </a:solidFill>
              </a:rPr>
              <a:t>de</a:t>
            </a:r>
            <a:r>
              <a:rPr dirty="0" sz="5550" spc="-484">
                <a:solidFill>
                  <a:srgbClr val="162D49"/>
                </a:solidFill>
              </a:rPr>
              <a:t> </a:t>
            </a:r>
            <a:r>
              <a:rPr dirty="0" sz="5550" spc="-35">
                <a:solidFill>
                  <a:srgbClr val="15263F"/>
                </a:solidFill>
              </a:rPr>
              <a:t>la </a:t>
            </a:r>
            <a:r>
              <a:rPr dirty="0" sz="5550">
                <a:solidFill>
                  <a:srgbClr val="15243B"/>
                </a:solidFill>
              </a:rPr>
              <a:t>dose</a:t>
            </a:r>
            <a:r>
              <a:rPr dirty="0" sz="5550" spc="-360">
                <a:solidFill>
                  <a:srgbClr val="15243B"/>
                </a:solidFill>
              </a:rPr>
              <a:t> </a:t>
            </a:r>
            <a:r>
              <a:rPr dirty="0" sz="5550" spc="110">
                <a:solidFill>
                  <a:srgbClr val="13263B"/>
                </a:solidFill>
              </a:rPr>
              <a:t>patient</a:t>
            </a:r>
            <a:r>
              <a:rPr dirty="0" sz="5550" spc="-60">
                <a:solidFill>
                  <a:srgbClr val="13263B"/>
                </a:solidFill>
              </a:rPr>
              <a:t> </a:t>
            </a:r>
            <a:r>
              <a:rPr dirty="0" sz="5550" spc="90">
                <a:solidFill>
                  <a:srgbClr val="182D46"/>
                </a:solidFill>
              </a:rPr>
              <a:t>en</a:t>
            </a:r>
            <a:r>
              <a:rPr dirty="0" sz="5550" spc="-530">
                <a:solidFill>
                  <a:srgbClr val="182D46"/>
                </a:solidFill>
              </a:rPr>
              <a:t> </a:t>
            </a:r>
            <a:r>
              <a:rPr dirty="0" sz="5550" spc="-25">
                <a:solidFill>
                  <a:srgbClr val="13233D"/>
                </a:solidFill>
              </a:rPr>
              <a:t>TDM</a:t>
            </a:r>
            <a:endParaRPr sz="5550"/>
          </a:p>
        </p:txBody>
      </p:sp>
      <p:sp>
        <p:nvSpPr>
          <p:cNvPr id="9" name="object 9" descr=""/>
          <p:cNvSpPr txBox="1"/>
          <p:nvPr/>
        </p:nvSpPr>
        <p:spPr>
          <a:xfrm>
            <a:off x="828935" y="4378677"/>
            <a:ext cx="6593840" cy="100584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9050" marR="5080" indent="-6985">
              <a:lnSpc>
                <a:spcPts val="3550"/>
              </a:lnSpc>
              <a:spcBef>
                <a:spcPts val="730"/>
              </a:spcBef>
              <a:tabLst>
                <a:tab pos="5138420" algn="l"/>
              </a:tabLst>
            </a:pPr>
            <a:r>
              <a:rPr dirty="0" sz="3450" spc="-229">
                <a:solidFill>
                  <a:srgbClr val="2F729E"/>
                </a:solidFill>
                <a:latin typeface="Arial MT"/>
                <a:cs typeface="Arial MT"/>
              </a:rPr>
              <a:t>Une</a:t>
            </a:r>
            <a:r>
              <a:rPr dirty="0" sz="3450" spc="-20">
                <a:solidFill>
                  <a:srgbClr val="2F729E"/>
                </a:solidFill>
                <a:latin typeface="Arial MT"/>
                <a:cs typeface="Arial MT"/>
              </a:rPr>
              <a:t> </a:t>
            </a:r>
            <a:r>
              <a:rPr dirty="0" sz="3450" spc="-105">
                <a:solidFill>
                  <a:srgbClr val="3D779E"/>
                </a:solidFill>
                <a:latin typeface="Arial MT"/>
                <a:cs typeface="Arial MT"/>
              </a:rPr>
              <a:t>approche</a:t>
            </a:r>
            <a:r>
              <a:rPr dirty="0" sz="3450" spc="-140">
                <a:solidFill>
                  <a:srgbClr val="3D779E"/>
                </a:solidFill>
                <a:latin typeface="Arial MT"/>
                <a:cs typeface="Arial MT"/>
              </a:rPr>
              <a:t> </a:t>
            </a:r>
            <a:r>
              <a:rPr dirty="0" sz="3450" spc="-145">
                <a:solidFill>
                  <a:srgbClr val="2A77A8"/>
                </a:solidFill>
                <a:latin typeface="Arial MT"/>
                <a:cs typeface="Arial MT"/>
              </a:rPr>
              <a:t>basée</a:t>
            </a:r>
            <a:r>
              <a:rPr dirty="0" sz="3450" spc="-75">
                <a:solidFill>
                  <a:srgbClr val="2A77A8"/>
                </a:solidFill>
                <a:latin typeface="Arial MT"/>
                <a:cs typeface="Arial MT"/>
              </a:rPr>
              <a:t> </a:t>
            </a:r>
            <a:r>
              <a:rPr dirty="0" sz="3450" spc="-130">
                <a:solidFill>
                  <a:srgbClr val="3D7093"/>
                </a:solidFill>
                <a:latin typeface="Arial MT"/>
                <a:cs typeface="Arial MT"/>
              </a:rPr>
              <a:t>sur</a:t>
            </a:r>
            <a:r>
              <a:rPr dirty="0" sz="3450" spc="-75">
                <a:solidFill>
                  <a:srgbClr val="3D7093"/>
                </a:solidFill>
                <a:latin typeface="Arial MT"/>
                <a:cs typeface="Arial MT"/>
              </a:rPr>
              <a:t> </a:t>
            </a:r>
            <a:r>
              <a:rPr dirty="0" sz="3450" spc="-135">
                <a:solidFill>
                  <a:srgbClr val="3F6E89"/>
                </a:solidFill>
                <a:latin typeface="Arial MT"/>
                <a:cs typeface="Arial MT"/>
              </a:rPr>
              <a:t>les</a:t>
            </a:r>
            <a:r>
              <a:rPr dirty="0" sz="3450" spc="-105">
                <a:solidFill>
                  <a:srgbClr val="3F6E89"/>
                </a:solidFill>
                <a:latin typeface="Arial MT"/>
                <a:cs typeface="Arial MT"/>
              </a:rPr>
              <a:t> </a:t>
            </a:r>
            <a:r>
              <a:rPr dirty="0" sz="3450" spc="-114">
                <a:solidFill>
                  <a:srgbClr val="447797"/>
                </a:solidFill>
                <a:latin typeface="Arial MT"/>
                <a:cs typeface="Arial MT"/>
              </a:rPr>
              <a:t>niveaux </a:t>
            </a:r>
            <a:r>
              <a:rPr dirty="0" sz="3450" spc="-95">
                <a:solidFill>
                  <a:srgbClr val="3B779C"/>
                </a:solidFill>
                <a:latin typeface="Arial MT"/>
                <a:cs typeface="Arial MT"/>
              </a:rPr>
              <a:t>de</a:t>
            </a:r>
            <a:r>
              <a:rPr dirty="0" sz="3450" spc="-160">
                <a:solidFill>
                  <a:srgbClr val="3B779C"/>
                </a:solidFill>
                <a:latin typeface="Arial MT"/>
                <a:cs typeface="Arial MT"/>
              </a:rPr>
              <a:t> </a:t>
            </a:r>
            <a:r>
              <a:rPr dirty="0" sz="3450" spc="-110">
                <a:solidFill>
                  <a:srgbClr val="4487B1"/>
                </a:solidFill>
                <a:latin typeface="Arial MT"/>
                <a:cs typeface="Arial MT"/>
              </a:rPr>
              <a:t>référence</a:t>
            </a:r>
            <a:r>
              <a:rPr dirty="0" sz="3450" spc="-50">
                <a:solidFill>
                  <a:srgbClr val="4487B1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3F89B8"/>
                </a:solidFill>
                <a:latin typeface="Arial MT"/>
                <a:cs typeface="Arial MT"/>
              </a:rPr>
              <a:t>diagnostiques</a:t>
            </a:r>
            <a:r>
              <a:rPr dirty="0" sz="3450">
                <a:solidFill>
                  <a:srgbClr val="3F89B8"/>
                </a:solidFill>
                <a:latin typeface="Arial MT"/>
                <a:cs typeface="Arial MT"/>
              </a:rPr>
              <a:t>	</a:t>
            </a:r>
            <a:r>
              <a:rPr dirty="0" sz="3450" spc="-375">
                <a:solidFill>
                  <a:srgbClr val="3A7295"/>
                </a:solidFill>
                <a:latin typeface="Arial MT"/>
                <a:cs typeface="Arial MT"/>
              </a:rPr>
              <a:t>(NRD)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30873" y="6990997"/>
            <a:ext cx="2447925" cy="893444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9685" marR="5080" indent="-7620">
              <a:lnSpc>
                <a:spcPts val="2150"/>
              </a:lnSpc>
              <a:spcBef>
                <a:spcPts val="530"/>
              </a:spcBef>
            </a:pPr>
            <a:r>
              <a:rPr dirty="0" sz="2150" spc="-195">
                <a:latin typeface="Arial MT"/>
                <a:cs typeface="Arial MT"/>
              </a:rPr>
              <a:t>Binôme</a:t>
            </a:r>
            <a:r>
              <a:rPr dirty="0" sz="2150" spc="-65">
                <a:latin typeface="Arial MT"/>
                <a:cs typeface="Arial MT"/>
              </a:rPr>
              <a:t> </a:t>
            </a:r>
            <a:r>
              <a:rPr dirty="0" sz="2150" spc="-165">
                <a:solidFill>
                  <a:srgbClr val="050505"/>
                </a:solidFill>
                <a:latin typeface="Arial MT"/>
                <a:cs typeface="Arial MT"/>
              </a:rPr>
              <a:t>de</a:t>
            </a:r>
            <a:r>
              <a:rPr dirty="0" sz="2150" spc="-28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150" spc="-190">
                <a:solidFill>
                  <a:srgbClr val="050505"/>
                </a:solidFill>
                <a:latin typeface="Arial MT"/>
                <a:cs typeface="Arial MT"/>
              </a:rPr>
              <a:t>Recherche</a:t>
            </a:r>
            <a:r>
              <a:rPr dirty="0" sz="2150" spc="-4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150" spc="-50">
                <a:solidFill>
                  <a:srgbClr val="0C0C0C"/>
                </a:solidFill>
                <a:latin typeface="Arial MT"/>
                <a:cs typeface="Arial MT"/>
              </a:rPr>
              <a:t>: </a:t>
            </a:r>
            <a:r>
              <a:rPr dirty="0" sz="2150" spc="-185">
                <a:latin typeface="Arial MT"/>
                <a:cs typeface="Arial MT"/>
              </a:rPr>
              <a:t>Imiz</a:t>
            </a:r>
            <a:r>
              <a:rPr dirty="0" sz="2150">
                <a:latin typeface="Arial MT"/>
                <a:cs typeface="Arial MT"/>
              </a:rPr>
              <a:t> </a:t>
            </a:r>
            <a:r>
              <a:rPr dirty="0" sz="2150" spc="-65">
                <a:solidFill>
                  <a:srgbClr val="050505"/>
                </a:solidFill>
                <a:latin typeface="Arial MT"/>
                <a:cs typeface="Arial MT"/>
              </a:rPr>
              <a:t>Sofiane</a:t>
            </a:r>
            <a:endParaRPr sz="2150">
              <a:latin typeface="Arial MT"/>
              <a:cs typeface="Arial MT"/>
            </a:endParaRPr>
          </a:p>
          <a:p>
            <a:pPr marL="24765">
              <a:lnSpc>
                <a:spcPts val="2100"/>
              </a:lnSpc>
            </a:pPr>
            <a:r>
              <a:rPr dirty="0" sz="2150" spc="-180">
                <a:latin typeface="Arial MT"/>
                <a:cs typeface="Arial MT"/>
              </a:rPr>
              <a:t>Meskini</a:t>
            </a:r>
            <a:r>
              <a:rPr dirty="0" sz="2150" spc="-10">
                <a:latin typeface="Arial MT"/>
                <a:cs typeface="Arial MT"/>
              </a:rPr>
              <a:t> </a:t>
            </a:r>
            <a:r>
              <a:rPr dirty="0" sz="2150" spc="-20">
                <a:latin typeface="Arial MT"/>
                <a:cs typeface="Arial MT"/>
              </a:rPr>
              <a:t>Amal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88766" y="7026275"/>
            <a:ext cx="4470400" cy="852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335">
              <a:lnSpc>
                <a:spcPts val="2110"/>
              </a:lnSpc>
              <a:spcBef>
                <a:spcPts val="125"/>
              </a:spcBef>
            </a:pPr>
            <a:r>
              <a:rPr dirty="0" sz="1850">
                <a:latin typeface="Arial MT"/>
                <a:cs typeface="Arial MT"/>
              </a:rPr>
              <a:t>Encadrement</a:t>
            </a:r>
            <a:r>
              <a:rPr dirty="0" sz="1850" spc="-110">
                <a:latin typeface="Arial MT"/>
                <a:cs typeface="Arial MT"/>
              </a:rPr>
              <a:t> </a:t>
            </a:r>
            <a:r>
              <a:rPr dirty="0" sz="1850" spc="-50">
                <a:latin typeface="Arial MT"/>
                <a:cs typeface="Arial MT"/>
              </a:rPr>
              <a:t>:</a:t>
            </a:r>
            <a:endParaRPr sz="1850">
              <a:latin typeface="Arial MT"/>
              <a:cs typeface="Arial MT"/>
            </a:endParaRPr>
          </a:p>
          <a:p>
            <a:pPr marL="12700">
              <a:lnSpc>
                <a:spcPts val="2165"/>
              </a:lnSpc>
            </a:pPr>
            <a:r>
              <a:rPr dirty="0" sz="2000" spc="-155">
                <a:latin typeface="Arial MT"/>
                <a:cs typeface="Arial MT"/>
              </a:rPr>
              <a:t>Pr.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80">
                <a:latin typeface="Arial MT"/>
                <a:cs typeface="Arial MT"/>
              </a:rPr>
              <a:t>F.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45">
                <a:latin typeface="Arial MT"/>
                <a:cs typeface="Arial MT"/>
              </a:rPr>
              <a:t>Assaoui</a:t>
            </a:r>
            <a:r>
              <a:rPr dirty="0" sz="2000" spc="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(Interne)</a:t>
            </a:r>
            <a:endParaRPr sz="2000">
              <a:latin typeface="Arial MT"/>
              <a:cs typeface="Arial MT"/>
            </a:endParaRPr>
          </a:p>
          <a:p>
            <a:pPr marL="13970">
              <a:lnSpc>
                <a:spcPts val="2215"/>
              </a:lnSpc>
            </a:pPr>
            <a:r>
              <a:rPr dirty="0" sz="1950" spc="-114">
                <a:latin typeface="Arial MT"/>
                <a:cs typeface="Arial MT"/>
              </a:rPr>
              <a:t>Mr.</a:t>
            </a:r>
            <a:r>
              <a:rPr dirty="0" sz="1950" spc="-75">
                <a:latin typeface="Arial MT"/>
                <a:cs typeface="Arial MT"/>
              </a:rPr>
              <a:t> </a:t>
            </a:r>
            <a:r>
              <a:rPr dirty="0" sz="1950" spc="-170">
                <a:latin typeface="Arial MT"/>
                <a:cs typeface="Arial MT"/>
              </a:rPr>
              <a:t>R.</a:t>
            </a:r>
            <a:r>
              <a:rPr dirty="0" sz="1950" spc="-120">
                <a:latin typeface="Arial MT"/>
                <a:cs typeface="Arial MT"/>
              </a:rPr>
              <a:t> </a:t>
            </a:r>
            <a:r>
              <a:rPr dirty="0" sz="1950" spc="-65">
                <a:latin typeface="Arial MT"/>
                <a:cs typeface="Arial MT"/>
              </a:rPr>
              <a:t>Afkhari</a:t>
            </a:r>
            <a:r>
              <a:rPr dirty="0" sz="1950" spc="-70">
                <a:latin typeface="Arial MT"/>
                <a:cs typeface="Arial MT"/>
              </a:rPr>
              <a:t> </a:t>
            </a:r>
            <a:r>
              <a:rPr dirty="0" sz="1950" spc="-229">
                <a:latin typeface="Arial MT"/>
                <a:cs typeface="Arial MT"/>
              </a:rPr>
              <a:t>&amp;</a:t>
            </a:r>
            <a:r>
              <a:rPr dirty="0" sz="1950" spc="-100">
                <a:latin typeface="Arial MT"/>
                <a:cs typeface="Arial MT"/>
              </a:rPr>
              <a:t> </a:t>
            </a:r>
            <a:r>
              <a:rPr dirty="0" sz="1950" spc="-130">
                <a:latin typeface="Arial MT"/>
                <a:cs typeface="Arial MT"/>
              </a:rPr>
              <a:t>Pr.</a:t>
            </a:r>
            <a:r>
              <a:rPr dirty="0" sz="1950" spc="-35">
                <a:latin typeface="Arial MT"/>
                <a:cs typeface="Arial MT"/>
              </a:rPr>
              <a:t> </a:t>
            </a:r>
            <a:r>
              <a:rPr dirty="0" sz="1950" spc="-185">
                <a:latin typeface="Arial MT"/>
                <a:cs typeface="Arial MT"/>
              </a:rPr>
              <a:t>Y.</a:t>
            </a:r>
            <a:r>
              <a:rPr dirty="0" sz="1950" spc="-140">
                <a:latin typeface="Arial MT"/>
                <a:cs typeface="Arial MT"/>
              </a:rPr>
              <a:t> </a:t>
            </a:r>
            <a:r>
              <a:rPr dirty="0" sz="1950" spc="-125">
                <a:latin typeface="Arial MT"/>
                <a:cs typeface="Arial MT"/>
              </a:rPr>
              <a:t>Omor</a:t>
            </a:r>
            <a:r>
              <a:rPr dirty="0" sz="1950" spc="-10">
                <a:latin typeface="Arial MT"/>
                <a:cs typeface="Arial MT"/>
              </a:rPr>
              <a:t> </a:t>
            </a:r>
            <a:r>
              <a:rPr dirty="0" sz="1950" spc="-80">
                <a:latin typeface="Arial MT"/>
                <a:cs typeface="Arial MT"/>
              </a:rPr>
              <a:t>(Externes</a:t>
            </a:r>
            <a:r>
              <a:rPr dirty="0" sz="1950" spc="135">
                <a:latin typeface="Arial MT"/>
                <a:cs typeface="Arial MT"/>
              </a:rPr>
              <a:t> </a:t>
            </a:r>
            <a:r>
              <a:rPr dirty="0" sz="1950" spc="-55">
                <a:latin typeface="Arial MT"/>
                <a:cs typeface="Arial MT"/>
              </a:rPr>
              <a:t>/</a:t>
            </a:r>
            <a:r>
              <a:rPr dirty="0" sz="1950" spc="-114">
                <a:latin typeface="Arial MT"/>
                <a:cs typeface="Arial MT"/>
              </a:rPr>
              <a:t> </a:t>
            </a:r>
            <a:r>
              <a:rPr dirty="0" sz="1950" spc="-60">
                <a:latin typeface="Arial MT"/>
                <a:cs typeface="Arial MT"/>
              </a:rPr>
              <a:t>INO)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27197" y="8055327"/>
            <a:ext cx="7166609" cy="910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780">
              <a:lnSpc>
                <a:spcPts val="2420"/>
              </a:lnSpc>
              <a:spcBef>
                <a:spcPts val="120"/>
              </a:spcBef>
            </a:pPr>
            <a:r>
              <a:rPr dirty="0" sz="2200" spc="-10">
                <a:latin typeface="Calibri"/>
                <a:cs typeface="Calibri"/>
              </a:rPr>
              <a:t>institution:</a:t>
            </a:r>
            <a:endParaRPr sz="2200">
              <a:latin typeface="Calibri"/>
              <a:cs typeface="Calibri"/>
            </a:endParaRPr>
          </a:p>
          <a:p>
            <a:pPr marL="25400">
              <a:lnSpc>
                <a:spcPts val="2150"/>
              </a:lnSpc>
            </a:pPr>
            <a:r>
              <a:rPr dirty="0" sz="2200" spc="-10">
                <a:latin typeface="Calibri"/>
                <a:cs typeface="Calibri"/>
              </a:rPr>
              <a:t>ISPITS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65">
                <a:solidFill>
                  <a:srgbClr val="111111"/>
                </a:solidFill>
                <a:latin typeface="Calibri"/>
                <a:cs typeface="Calibri"/>
              </a:rPr>
              <a:t>de</a:t>
            </a:r>
            <a:r>
              <a:rPr dirty="0" sz="2200" spc="-1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Rabat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370"/>
              </a:lnSpc>
            </a:pPr>
            <a:r>
              <a:rPr dirty="0" sz="2200" spc="-10">
                <a:latin typeface="Calibri"/>
                <a:cs typeface="Calibri"/>
              </a:rPr>
              <a:t>Lieu</a:t>
            </a:r>
            <a:r>
              <a:rPr dirty="0" sz="2200" spc="-195"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70707"/>
                </a:solidFill>
                <a:latin typeface="Calibri"/>
                <a:cs typeface="Calibri"/>
              </a:rPr>
              <a:t>da</a:t>
            </a:r>
            <a:r>
              <a:rPr dirty="0" sz="2200" spc="-105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dirty="0" sz="2200" spc="-40">
                <a:solidFill>
                  <a:srgbClr val="050505"/>
                </a:solidFill>
                <a:latin typeface="Calibri"/>
                <a:cs typeface="Calibri"/>
              </a:rPr>
              <a:t>î'gtude:</a:t>
            </a:r>
            <a:r>
              <a:rPr dirty="0" sz="2200" spc="-35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2200" spc="-55">
                <a:latin typeface="Calibri"/>
                <a:cs typeface="Calibri"/>
              </a:rPr>
              <a:t>Service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130">
                <a:latin typeface="Calibri"/>
                <a:cs typeface="Calibri"/>
              </a:rPr>
              <a:t>d'imagerie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5">
                <a:latin typeface="Calibri"/>
                <a:cs typeface="Calibri"/>
              </a:rPr>
              <a:t>INO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 spc="-125">
                <a:latin typeface="Calibri"/>
                <a:cs typeface="Calibri"/>
              </a:rPr>
              <a:t>(Institut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120">
                <a:latin typeface="Calibri"/>
                <a:cs typeface="Calibri"/>
              </a:rPr>
              <a:t>National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80">
                <a:latin typeface="Calibri"/>
                <a:cs typeface="Calibri"/>
              </a:rPr>
              <a:t>d'Oncologie)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3600" y="9357783"/>
            <a:ext cx="15790544" cy="0"/>
          </a:xfrm>
          <a:custGeom>
            <a:avLst/>
            <a:gdLst/>
            <a:ahLst/>
            <a:cxnLst/>
            <a:rect l="l" t="t" r="r" b="b"/>
            <a:pathLst>
              <a:path w="15790544" h="0">
                <a:moveTo>
                  <a:pt x="0" y="0"/>
                </a:moveTo>
                <a:lnTo>
                  <a:pt x="15790334" y="0"/>
                </a:lnTo>
              </a:path>
            </a:pathLst>
          </a:custGeom>
          <a:ln w="29633">
            <a:solidFill>
              <a:srgbClr val="0F28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63600" y="7869766"/>
            <a:ext cx="15790544" cy="1541145"/>
            <a:chOff x="863600" y="7869766"/>
            <a:chExt cx="15790544" cy="1541145"/>
          </a:xfrm>
        </p:grpSpPr>
        <p:sp>
          <p:nvSpPr>
            <p:cNvPr id="4" name="object 4" descr=""/>
            <p:cNvSpPr/>
            <p:nvPr/>
          </p:nvSpPr>
          <p:spPr>
            <a:xfrm>
              <a:off x="863600" y="7869766"/>
              <a:ext cx="15790544" cy="1503045"/>
            </a:xfrm>
            <a:custGeom>
              <a:avLst/>
              <a:gdLst/>
              <a:ahLst/>
              <a:cxnLst/>
              <a:rect l="l" t="t" r="r" b="b"/>
              <a:pathLst>
                <a:path w="15790544" h="1503045">
                  <a:moveTo>
                    <a:pt x="0" y="14816"/>
                  </a:moveTo>
                  <a:lnTo>
                    <a:pt x="15790334" y="14816"/>
                  </a:lnTo>
                </a:path>
                <a:path w="15790544" h="1503045">
                  <a:moveTo>
                    <a:pt x="14816" y="1502833"/>
                  </a:moveTo>
                  <a:lnTo>
                    <a:pt x="14816" y="0"/>
                  </a:lnTo>
                </a:path>
              </a:pathLst>
            </a:custGeom>
            <a:ln w="29633">
              <a:solidFill>
                <a:srgbClr val="0F2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639116" y="7869766"/>
              <a:ext cx="0" cy="1503045"/>
            </a:xfrm>
            <a:custGeom>
              <a:avLst/>
              <a:gdLst/>
              <a:ahLst/>
              <a:cxnLst/>
              <a:rect l="l" t="t" r="r" b="b"/>
              <a:pathLst>
                <a:path w="0" h="1503045">
                  <a:moveTo>
                    <a:pt x="0" y="15028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0F2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89000" y="9395883"/>
              <a:ext cx="15752444" cy="0"/>
            </a:xfrm>
            <a:custGeom>
              <a:avLst/>
              <a:gdLst/>
              <a:ahLst/>
              <a:cxnLst/>
              <a:rect l="l" t="t" r="r" b="b"/>
              <a:pathLst>
                <a:path w="15752444" h="0">
                  <a:moveTo>
                    <a:pt x="0" y="0"/>
                  </a:moveTo>
                  <a:lnTo>
                    <a:pt x="15752234" y="0"/>
                  </a:lnTo>
                </a:path>
              </a:pathLst>
            </a:custGeom>
            <a:ln w="29633">
              <a:solidFill>
                <a:srgbClr val="0F28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00" y="4292600"/>
            <a:ext cx="1066800" cy="32131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5300" y="4318000"/>
            <a:ext cx="1054100" cy="31877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08300" y="4368800"/>
            <a:ext cx="1079500" cy="31369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8800" y="5816600"/>
            <a:ext cx="2197100" cy="16764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8700" y="5803900"/>
            <a:ext cx="2209800" cy="16891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14000" y="5549900"/>
            <a:ext cx="2222500" cy="19431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49300" y="5549900"/>
            <a:ext cx="2171700" cy="19431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45800" y="2603500"/>
            <a:ext cx="1943100" cy="16129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385800" y="2590800"/>
            <a:ext cx="1841500" cy="16256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86000" y="2578100"/>
            <a:ext cx="1930400" cy="15113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87900" y="2527300"/>
            <a:ext cx="1816100" cy="15621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87400" y="2108200"/>
            <a:ext cx="3238500" cy="15621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385300" y="2108200"/>
            <a:ext cx="3187700" cy="156210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889500" y="2108200"/>
            <a:ext cx="3213100" cy="14478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538200" y="2108200"/>
            <a:ext cx="3149600" cy="13335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98000" y="1701800"/>
            <a:ext cx="3467100" cy="279400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72746" y="488244"/>
            <a:ext cx="11454765" cy="6819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300">
                <a:solidFill>
                  <a:srgbClr val="052149"/>
                </a:solidFill>
              </a:rPr>
              <a:t>Le</a:t>
            </a:r>
            <a:r>
              <a:rPr dirty="0" sz="4300" spc="-135">
                <a:solidFill>
                  <a:srgbClr val="052149"/>
                </a:solidFill>
              </a:rPr>
              <a:t> </a:t>
            </a:r>
            <a:r>
              <a:rPr dirty="0" sz="4300">
                <a:solidFill>
                  <a:srgbClr val="08264D"/>
                </a:solidFill>
              </a:rPr>
              <a:t>Paradoxe</a:t>
            </a:r>
            <a:r>
              <a:rPr dirty="0" sz="4300" spc="180">
                <a:solidFill>
                  <a:srgbClr val="08264D"/>
                </a:solidFill>
              </a:rPr>
              <a:t> </a:t>
            </a:r>
            <a:r>
              <a:rPr dirty="0" sz="4300" spc="185">
                <a:solidFill>
                  <a:srgbClr val="052149"/>
                </a:solidFill>
              </a:rPr>
              <a:t>de</a:t>
            </a:r>
            <a:r>
              <a:rPr dirty="0" sz="4300" spc="-240">
                <a:solidFill>
                  <a:srgbClr val="052149"/>
                </a:solidFill>
              </a:rPr>
              <a:t> </a:t>
            </a:r>
            <a:r>
              <a:rPr dirty="0" sz="4300" spc="80">
                <a:solidFill>
                  <a:srgbClr val="011F46"/>
                </a:solidFill>
              </a:rPr>
              <a:t>la</a:t>
            </a:r>
            <a:r>
              <a:rPr dirty="0" sz="4300" spc="-70">
                <a:solidFill>
                  <a:srgbClr val="011F46"/>
                </a:solidFill>
              </a:rPr>
              <a:t> </a:t>
            </a:r>
            <a:r>
              <a:rPr dirty="0" sz="4300" spc="190">
                <a:solidFill>
                  <a:srgbClr val="052346"/>
                </a:solidFill>
              </a:rPr>
              <a:t>Tomodensitométrie</a:t>
            </a:r>
            <a:r>
              <a:rPr dirty="0" sz="4300" spc="-254">
                <a:solidFill>
                  <a:srgbClr val="052346"/>
                </a:solidFill>
              </a:rPr>
              <a:t> </a:t>
            </a:r>
            <a:r>
              <a:rPr dirty="0" sz="4300" spc="-10">
                <a:solidFill>
                  <a:srgbClr val="031D41"/>
                </a:solidFill>
              </a:rPr>
              <a:t>(TDM)</a:t>
            </a:r>
            <a:endParaRPr sz="4300"/>
          </a:p>
        </p:txBody>
      </p:sp>
      <p:sp>
        <p:nvSpPr>
          <p:cNvPr id="28" name="object 28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77489" y="1602669"/>
            <a:ext cx="4797425" cy="15970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solidFill>
                  <a:srgbClr val="1F6995"/>
                </a:solidFill>
                <a:latin typeface="Arial MT"/>
                <a:cs typeface="Arial MT"/>
              </a:rPr>
              <a:t>L'Atout</a:t>
            </a:r>
            <a:r>
              <a:rPr dirty="0" sz="2400" spc="285">
                <a:solidFill>
                  <a:srgbClr val="1F6995"/>
                </a:solidFill>
                <a:latin typeface="Arial MT"/>
                <a:cs typeface="Arial MT"/>
              </a:rPr>
              <a:t> </a:t>
            </a:r>
            <a:r>
              <a:rPr dirty="0" sz="2400" spc="90">
                <a:solidFill>
                  <a:srgbClr val="1F6995"/>
                </a:solidFill>
                <a:latin typeface="Arial MT"/>
                <a:cs typeface="Arial MT"/>
              </a:rPr>
              <a:t>Diagnostique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400">
              <a:latin typeface="Arial MT"/>
              <a:cs typeface="Arial MT"/>
            </a:endParaRPr>
          </a:p>
          <a:p>
            <a:pPr marL="3041015">
              <a:lnSpc>
                <a:spcPct val="100000"/>
              </a:lnSpc>
              <a:tabLst>
                <a:tab pos="3545204" algn="l"/>
                <a:tab pos="4686300" algn="l"/>
              </a:tabLst>
            </a:pPr>
            <a:r>
              <a:rPr dirty="0" sz="2200" spc="-50">
                <a:solidFill>
                  <a:srgbClr val="797979"/>
                </a:solidFill>
                <a:latin typeface="Arial MT"/>
                <a:cs typeface="Arial MT"/>
              </a:rPr>
              <a:t>1</a:t>
            </a:r>
            <a:r>
              <a:rPr dirty="0" sz="2200">
                <a:solidFill>
                  <a:srgbClr val="797979"/>
                </a:solidFill>
                <a:latin typeface="Arial MT"/>
                <a:cs typeface="Arial MT"/>
              </a:rPr>
              <a:t>	</a:t>
            </a:r>
            <a:r>
              <a:rPr dirty="0" sz="2200" spc="5">
                <a:solidFill>
                  <a:srgbClr val="696969"/>
                </a:solidFill>
                <a:latin typeface="Arial MT"/>
                <a:cs typeface="Arial MT"/>
              </a:rPr>
              <a:t>J</a:t>
            </a:r>
            <a:r>
              <a:rPr dirty="0" sz="2200">
                <a:solidFill>
                  <a:srgbClr val="696969"/>
                </a:solidFill>
                <a:latin typeface="Arial MT"/>
                <a:cs typeface="Arial MT"/>
              </a:rPr>
              <a:t>	</a:t>
            </a:r>
            <a:r>
              <a:rPr dirty="0" sz="2200" spc="-50">
                <a:solidFill>
                  <a:srgbClr val="878787"/>
                </a:solidFill>
                <a:latin typeface="Arial MT"/>
                <a:cs typeface="Arial MT"/>
              </a:rPr>
              <a:t>”</a:t>
            </a:r>
            <a:endParaRPr sz="2200">
              <a:latin typeface="Arial MT"/>
              <a:cs typeface="Arial MT"/>
            </a:endParaRPr>
          </a:p>
          <a:p>
            <a:pPr marL="3510279">
              <a:lnSpc>
                <a:spcPct val="100000"/>
              </a:lnSpc>
              <a:spcBef>
                <a:spcPts val="310"/>
              </a:spcBef>
            </a:pPr>
            <a:r>
              <a:rPr dirty="0" sz="2200" spc="20">
                <a:solidFill>
                  <a:srgbClr val="6D6D6D"/>
                </a:solidFill>
                <a:latin typeface="Arial MT"/>
                <a:cs typeface="Arial MT"/>
              </a:rPr>
              <a:t>B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041911" y="4258241"/>
            <a:ext cx="4201795" cy="125158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620"/>
              </a:spcBef>
              <a:buClr>
                <a:srgbClr val="057BCA"/>
              </a:buClr>
              <a:buChar char="•"/>
              <a:tabLst>
                <a:tab pos="293370" algn="l"/>
              </a:tabLst>
            </a:pPr>
            <a:r>
              <a:rPr dirty="0" sz="2200" spc="-10">
                <a:latin typeface="Arial MT"/>
                <a:cs typeface="Arial MT"/>
              </a:rPr>
              <a:t>Outil</a:t>
            </a:r>
            <a:r>
              <a:rPr dirty="0" sz="2200" spc="-130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diagnostique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indispensable</a:t>
            </a:r>
            <a:endParaRPr sz="2200">
              <a:latin typeface="Arial MT"/>
              <a:cs typeface="Arial MT"/>
            </a:endParaRPr>
          </a:p>
          <a:p>
            <a:pPr marL="297180" indent="-284480">
              <a:lnSpc>
                <a:spcPct val="100000"/>
              </a:lnSpc>
              <a:spcBef>
                <a:spcPts val="509"/>
              </a:spcBef>
              <a:buClr>
                <a:srgbClr val="0574BF"/>
              </a:buClr>
              <a:buChar char="•"/>
              <a:tabLst>
                <a:tab pos="297180" algn="l"/>
              </a:tabLst>
            </a:pPr>
            <a:r>
              <a:rPr dirty="0" sz="2300" spc="-105">
                <a:latin typeface="Arial MT"/>
                <a:cs typeface="Arial MT"/>
              </a:rPr>
              <a:t>Rapidité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d'acquisition</a:t>
            </a:r>
            <a:endParaRPr sz="2300">
              <a:latin typeface="Arial MT"/>
              <a:cs typeface="Arial MT"/>
            </a:endParaRPr>
          </a:p>
          <a:p>
            <a:pPr marL="295275" indent="-281940">
              <a:lnSpc>
                <a:spcPct val="100000"/>
              </a:lnSpc>
              <a:spcBef>
                <a:spcPts val="640"/>
              </a:spcBef>
              <a:buClr>
                <a:srgbClr val="0775C6"/>
              </a:buClr>
              <a:buChar char="•"/>
              <a:tabLst>
                <a:tab pos="295275" algn="l"/>
              </a:tabLst>
            </a:pPr>
            <a:r>
              <a:rPr dirty="0" sz="2150" spc="-10">
                <a:latin typeface="Arial MT"/>
                <a:cs typeface="Arial MT"/>
              </a:rPr>
              <a:t>Qualité</a:t>
            </a:r>
            <a:r>
              <a:rPr dirty="0" sz="2150" spc="-110">
                <a:latin typeface="Arial MT"/>
                <a:cs typeface="Arial MT"/>
              </a:rPr>
              <a:t> </a:t>
            </a:r>
            <a:r>
              <a:rPr dirty="0" sz="2150" spc="-20">
                <a:latin typeface="Arial MT"/>
                <a:cs typeface="Arial MT"/>
              </a:rPr>
              <a:t>d'image</a:t>
            </a:r>
            <a:r>
              <a:rPr dirty="0" sz="2150" spc="-12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millimétrique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576311" y="4407958"/>
            <a:ext cx="5142865" cy="83820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540"/>
              </a:spcBef>
              <a:buClr>
                <a:srgbClr val="DD951F"/>
              </a:buClr>
              <a:buChar char="•"/>
              <a:tabLst>
                <a:tab pos="294005" algn="l"/>
              </a:tabLst>
            </a:pPr>
            <a:r>
              <a:rPr dirty="0" sz="2300" spc="-120">
                <a:latin typeface="Arial MT"/>
                <a:cs typeface="Arial MT"/>
              </a:rPr>
              <a:t>Source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120">
                <a:latin typeface="Arial MT"/>
                <a:cs typeface="Arial MT"/>
              </a:rPr>
              <a:t>majeure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65">
                <a:latin typeface="Arial MT"/>
                <a:cs typeface="Arial MT"/>
              </a:rPr>
              <a:t>d'irradiation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médicale</a:t>
            </a:r>
            <a:endParaRPr sz="2300">
              <a:latin typeface="Arial MT"/>
              <a:cs typeface="Arial MT"/>
            </a:endParaRPr>
          </a:p>
          <a:p>
            <a:pPr marL="297180" indent="-284480">
              <a:lnSpc>
                <a:spcPct val="100000"/>
              </a:lnSpc>
              <a:spcBef>
                <a:spcPts val="440"/>
              </a:spcBef>
              <a:buClr>
                <a:srgbClr val="DF910F"/>
              </a:buClr>
              <a:buChar char="•"/>
              <a:tabLst>
                <a:tab pos="297180" algn="l"/>
              </a:tabLst>
            </a:pPr>
            <a:r>
              <a:rPr dirty="0" sz="2300" spc="-155">
                <a:latin typeface="Arial MT"/>
                <a:cs typeface="Arial MT"/>
              </a:rPr>
              <a:t>Risques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65">
                <a:latin typeface="Arial MT"/>
                <a:cs typeface="Arial MT"/>
              </a:rPr>
              <a:t>liés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 spc="-140">
                <a:latin typeface="Arial MT"/>
                <a:cs typeface="Arial MT"/>
              </a:rPr>
              <a:t>aux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 spc="-105">
                <a:latin typeface="Arial MT"/>
                <a:cs typeface="Arial MT"/>
              </a:rPr>
              <a:t>rayonnements</a:t>
            </a:r>
            <a:r>
              <a:rPr dirty="0" sz="2300" spc="40">
                <a:latin typeface="Arial MT"/>
                <a:cs typeface="Arial MT"/>
              </a:rPr>
              <a:t> </a:t>
            </a:r>
            <a:r>
              <a:rPr dirty="0" sz="2300" spc="-55">
                <a:latin typeface="Arial MT"/>
                <a:cs typeface="Arial MT"/>
              </a:rPr>
              <a:t>ionisants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93233" y="7924789"/>
            <a:ext cx="15731490" cy="120777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036955">
              <a:lnSpc>
                <a:spcPct val="100000"/>
              </a:lnSpc>
              <a:spcBef>
                <a:spcPts val="1150"/>
              </a:spcBef>
            </a:pPr>
            <a:r>
              <a:rPr dirty="0" sz="4100" spc="-10">
                <a:solidFill>
                  <a:srgbClr val="03214B"/>
                </a:solidFill>
                <a:latin typeface="Arial MT"/>
                <a:cs typeface="Arial MT"/>
              </a:rPr>
              <a:t>La</a:t>
            </a:r>
            <a:r>
              <a:rPr dirty="0" sz="4100" spc="-70">
                <a:solidFill>
                  <a:srgbClr val="03214B"/>
                </a:solidFill>
                <a:latin typeface="Arial MT"/>
                <a:cs typeface="Arial MT"/>
              </a:rPr>
              <a:t> </a:t>
            </a:r>
            <a:r>
              <a:rPr dirty="0" sz="4100" spc="125">
                <a:solidFill>
                  <a:srgbClr val="011F3F"/>
                </a:solidFill>
                <a:latin typeface="Arial MT"/>
                <a:cs typeface="Arial MT"/>
              </a:rPr>
              <a:t>Solution</a:t>
            </a:r>
            <a:r>
              <a:rPr dirty="0" sz="4100" spc="10">
                <a:solidFill>
                  <a:srgbClr val="011F3F"/>
                </a:solidFill>
                <a:latin typeface="Arial MT"/>
                <a:cs typeface="Arial MT"/>
              </a:rPr>
              <a:t> </a:t>
            </a:r>
            <a:r>
              <a:rPr dirty="0" sz="4100" spc="-365" i="1">
                <a:solidFill>
                  <a:srgbClr val="07234B"/>
                </a:solidFill>
                <a:latin typeface="Arial"/>
                <a:cs typeface="Arial"/>
              </a:rPr>
              <a:t>:</a:t>
            </a:r>
            <a:r>
              <a:rPr dirty="0" sz="4100" spc="40" i="1">
                <a:solidFill>
                  <a:srgbClr val="07234B"/>
                </a:solidFill>
                <a:latin typeface="Arial"/>
                <a:cs typeface="Arial"/>
              </a:rPr>
              <a:t> </a:t>
            </a:r>
            <a:r>
              <a:rPr dirty="0" sz="4100" spc="60">
                <a:solidFill>
                  <a:srgbClr val="051F44"/>
                </a:solidFill>
                <a:latin typeface="Arial MT"/>
                <a:cs typeface="Arial MT"/>
              </a:rPr>
              <a:t>Niveaux</a:t>
            </a:r>
            <a:r>
              <a:rPr dirty="0" sz="4100" spc="229">
                <a:solidFill>
                  <a:srgbClr val="051F44"/>
                </a:solidFill>
                <a:latin typeface="Arial MT"/>
                <a:cs typeface="Arial MT"/>
              </a:rPr>
              <a:t> </a:t>
            </a:r>
            <a:r>
              <a:rPr dirty="0" sz="4100" spc="85">
                <a:solidFill>
                  <a:srgbClr val="03214B"/>
                </a:solidFill>
                <a:latin typeface="Arial MT"/>
                <a:cs typeface="Arial MT"/>
              </a:rPr>
              <a:t>de</a:t>
            </a:r>
            <a:r>
              <a:rPr dirty="0" sz="4100" spc="-235">
                <a:solidFill>
                  <a:srgbClr val="03214B"/>
                </a:solidFill>
                <a:latin typeface="Arial MT"/>
                <a:cs typeface="Arial MT"/>
              </a:rPr>
              <a:t> </a:t>
            </a:r>
            <a:r>
              <a:rPr dirty="0" sz="4100">
                <a:solidFill>
                  <a:srgbClr val="032349"/>
                </a:solidFill>
                <a:latin typeface="Arial MT"/>
                <a:cs typeface="Arial MT"/>
              </a:rPr>
              <a:t>Référence</a:t>
            </a:r>
            <a:r>
              <a:rPr dirty="0" sz="4100" spc="130">
                <a:solidFill>
                  <a:srgbClr val="032349"/>
                </a:solidFill>
                <a:latin typeface="Arial MT"/>
                <a:cs typeface="Arial MT"/>
              </a:rPr>
              <a:t> </a:t>
            </a:r>
            <a:r>
              <a:rPr dirty="0" sz="4100" spc="114">
                <a:solidFill>
                  <a:srgbClr val="032349"/>
                </a:solidFill>
                <a:latin typeface="Arial MT"/>
                <a:cs typeface="Arial MT"/>
              </a:rPr>
              <a:t>Diagnostiques</a:t>
            </a:r>
            <a:r>
              <a:rPr dirty="0" sz="4100" spc="250">
                <a:solidFill>
                  <a:srgbClr val="032349"/>
                </a:solidFill>
                <a:latin typeface="Arial MT"/>
                <a:cs typeface="Arial MT"/>
              </a:rPr>
              <a:t> </a:t>
            </a:r>
            <a:r>
              <a:rPr dirty="0" sz="4100" spc="-20">
                <a:solidFill>
                  <a:srgbClr val="031D3F"/>
                </a:solidFill>
                <a:latin typeface="Arial MT"/>
                <a:cs typeface="Arial MT"/>
              </a:rPr>
              <a:t>(NRD)</a:t>
            </a:r>
            <a:endParaRPr sz="4100">
              <a:latin typeface="Arial MT"/>
              <a:cs typeface="Arial MT"/>
            </a:endParaRPr>
          </a:p>
          <a:p>
            <a:pPr marL="1060450">
              <a:lnSpc>
                <a:spcPct val="100000"/>
              </a:lnSpc>
              <a:spcBef>
                <a:spcPts val="580"/>
              </a:spcBef>
            </a:pPr>
            <a:r>
              <a:rPr dirty="0" sz="2300" spc="-75">
                <a:latin typeface="Arial MT"/>
                <a:cs typeface="Arial MT"/>
              </a:rPr>
              <a:t>Indicateurs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60">
                <a:solidFill>
                  <a:srgbClr val="070707"/>
                </a:solidFill>
                <a:latin typeface="Arial MT"/>
                <a:cs typeface="Arial MT"/>
              </a:rPr>
              <a:t>clés</a:t>
            </a:r>
            <a:r>
              <a:rPr dirty="0" sz="2300" spc="-10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latin typeface="Arial MT"/>
                <a:cs typeface="Arial MT"/>
              </a:rPr>
              <a:t>pour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105">
                <a:latin typeface="Arial MT"/>
                <a:cs typeface="Arial MT"/>
              </a:rPr>
              <a:t>évaluer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et</a:t>
            </a:r>
            <a:r>
              <a:rPr dirty="0" sz="2300" spc="-150"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optimiser</a:t>
            </a:r>
            <a:r>
              <a:rPr dirty="0" sz="2300" spc="80"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080808"/>
                </a:solidFill>
                <a:latin typeface="Arial MT"/>
                <a:cs typeface="Arial MT"/>
              </a:rPr>
              <a:t>les</a:t>
            </a:r>
            <a:r>
              <a:rPr dirty="0" sz="2300" spc="-6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latin typeface="Arial MT"/>
                <a:cs typeface="Arial MT"/>
              </a:rPr>
              <a:t>doses</a:t>
            </a:r>
            <a:r>
              <a:rPr dirty="0" sz="2300" spc="30">
                <a:latin typeface="Arial MT"/>
                <a:cs typeface="Arial MT"/>
              </a:rPr>
              <a:t> </a:t>
            </a:r>
            <a:r>
              <a:rPr dirty="0" sz="2300" spc="-105">
                <a:latin typeface="Arial MT"/>
                <a:cs typeface="Arial MT"/>
              </a:rPr>
              <a:t>selon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0">
                <a:latin typeface="Arial MT"/>
                <a:cs typeface="Arial MT"/>
              </a:rPr>
              <a:t>le</a:t>
            </a:r>
            <a:r>
              <a:rPr dirty="0" sz="2300" spc="-60">
                <a:latin typeface="Arial MT"/>
                <a:cs typeface="Arial MT"/>
              </a:rPr>
              <a:t> principe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280">
                <a:latin typeface="Arial MT"/>
                <a:cs typeface="Arial MT"/>
              </a:rPr>
              <a:t>ALARA</a:t>
            </a:r>
            <a:r>
              <a:rPr dirty="0" sz="2300" spc="120">
                <a:latin typeface="Arial MT"/>
                <a:cs typeface="Arial MT"/>
              </a:rPr>
              <a:t> </a:t>
            </a:r>
            <a:r>
              <a:rPr dirty="0" sz="2300" spc="-140">
                <a:latin typeface="Arial MT"/>
                <a:cs typeface="Arial MT"/>
              </a:rPr>
              <a:t>(As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35">
                <a:latin typeface="Arial MT"/>
                <a:cs typeface="Arial MT"/>
              </a:rPr>
              <a:t>Low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195">
                <a:latin typeface="Arial MT"/>
                <a:cs typeface="Arial MT"/>
              </a:rPr>
              <a:t>As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 spc="-120">
                <a:latin typeface="Arial MT"/>
                <a:cs typeface="Arial MT"/>
              </a:rPr>
              <a:t>Reasonably</a:t>
            </a:r>
            <a:r>
              <a:rPr dirty="0" sz="2300" spc="114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Achievable).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5400" y="6045200"/>
            <a:ext cx="1143000" cy="1003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3500" y="6045200"/>
            <a:ext cx="952500" cy="1003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6900" y="2768600"/>
            <a:ext cx="2260600" cy="2527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0100" y="3733800"/>
            <a:ext cx="1422400" cy="6223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5100" y="2451100"/>
            <a:ext cx="3390900" cy="26416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2540000" y="8216900"/>
            <a:ext cx="12522200" cy="1358900"/>
          </a:xfrm>
          <a:custGeom>
            <a:avLst/>
            <a:gdLst/>
            <a:ahLst/>
            <a:cxnLst/>
            <a:rect l="l" t="t" r="r" b="b"/>
            <a:pathLst>
              <a:path w="12522200" h="1358900">
                <a:moveTo>
                  <a:pt x="12522200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522200" y="0"/>
                </a:lnTo>
                <a:lnTo>
                  <a:pt x="12522200" y="1358900"/>
                </a:lnTo>
                <a:close/>
              </a:path>
            </a:pathLst>
          </a:custGeom>
          <a:solidFill>
            <a:srgbClr val="DFF0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3154724" y="8348485"/>
            <a:ext cx="163703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70">
                <a:solidFill>
                  <a:srgbClr val="FFFFFF"/>
                </a:solidFill>
                <a:latin typeface="Arial MT"/>
                <a:cs typeface="Arial MT"/>
              </a:rPr>
              <a:t>écessite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01736" y="8348485"/>
            <a:ext cx="9996805" cy="9931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721610" marR="5080" indent="-2709545">
              <a:lnSpc>
                <a:spcPts val="3700"/>
              </a:lnSpc>
              <a:spcBef>
                <a:spcPts val="400"/>
              </a:spcBef>
              <a:tabLst>
                <a:tab pos="5742940" algn="l"/>
                <a:tab pos="7089775" algn="l"/>
                <a:tab pos="7126605" algn="l"/>
              </a:tabLst>
            </a:pPr>
            <a:r>
              <a:rPr dirty="0" sz="3250" spc="-114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dirty="0" sz="3250" spc="-5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85">
                <a:solidFill>
                  <a:srgbClr val="FFFFFF"/>
                </a:solidFill>
                <a:latin typeface="Arial MT"/>
                <a:cs typeface="Arial MT"/>
              </a:rPr>
              <a:t>existence</a:t>
            </a:r>
            <a:r>
              <a:rPr dirty="0" sz="3250" spc="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dirty="0" sz="32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FFFFFF"/>
                </a:solidFill>
                <a:latin typeface="Arial MT"/>
                <a:cs typeface="Arial MT"/>
              </a:rPr>
              <a:t>mouses</a:t>
            </a:r>
            <a:r>
              <a:rPr dirty="0" sz="32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85">
                <a:solidFill>
                  <a:srgbClr val="FFFFFF"/>
                </a:solidFill>
                <a:latin typeface="Arial MT"/>
                <a:cs typeface="Arial MT"/>
              </a:rPr>
              <a:t>ne</a:t>
            </a:r>
            <a:r>
              <a:rPr dirty="0" sz="32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25">
                <a:solidFill>
                  <a:srgbClr val="FFFFFF"/>
                </a:solidFill>
                <a:latin typeface="Arial MT"/>
                <a:cs typeface="Arial MT"/>
              </a:rPr>
              <a:t>suf</a:t>
            </a:r>
            <a:r>
              <a:rPr dirty="0" sz="3250">
                <a:solidFill>
                  <a:srgbClr val="FFFFFF"/>
                </a:solidFill>
                <a:latin typeface="Arial MT"/>
                <a:cs typeface="Arial MT"/>
              </a:rPr>
              <a:t>	it</a:t>
            </a:r>
            <a:r>
              <a:rPr dirty="0" sz="3250" spc="25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35">
                <a:solidFill>
                  <a:srgbClr val="FFFFFF"/>
                </a:solidFill>
                <a:latin typeface="Arial MT"/>
                <a:cs typeface="Arial MT"/>
              </a:rPr>
              <a:t>pas;</a:t>
            </a:r>
            <a:r>
              <a:rPr dirty="0" sz="3250">
                <a:solidFill>
                  <a:srgbClr val="FFFFFF"/>
                </a:solidFill>
                <a:latin typeface="Arial MT"/>
                <a:cs typeface="Arial MT"/>
              </a:rPr>
              <a:t>		</a:t>
            </a:r>
            <a:r>
              <a:rPr dirty="0" sz="3250" spc="60">
                <a:solidFill>
                  <a:srgbClr val="FFFFFF"/>
                </a:solidFill>
                <a:latin typeface="Arial MT"/>
                <a:cs typeface="Arial MT"/>
              </a:rPr>
              <a:t>eur</a:t>
            </a:r>
            <a:r>
              <a:rPr dirty="0" sz="32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80">
                <a:solidFill>
                  <a:srgbClr val="FFFFFF"/>
                </a:solidFill>
                <a:latin typeface="Arial MT"/>
                <a:cs typeface="Arial MT"/>
              </a:rPr>
              <a:t>application </a:t>
            </a:r>
            <a:r>
              <a:rPr dirty="0" sz="3250" spc="65">
                <a:solidFill>
                  <a:srgbClr val="FFFFFF"/>
                </a:solidFill>
                <a:latin typeface="Arial MT"/>
                <a:cs typeface="Arial MT"/>
              </a:rPr>
              <a:t>une</a:t>
            </a:r>
            <a:r>
              <a:rPr dirty="0" sz="32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>
                <a:solidFill>
                  <a:srgbClr val="FFFFFF"/>
                </a:solidFill>
                <a:latin typeface="Arial MT"/>
                <a:cs typeface="Arial MT"/>
              </a:rPr>
              <a:t>analyse</a:t>
            </a:r>
            <a:r>
              <a:rPr dirty="0" sz="325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50">
                <a:solidFill>
                  <a:srgbClr val="FFFFFF"/>
                </a:solidFill>
                <a:latin typeface="Arial MT"/>
                <a:cs typeface="Arial MT"/>
              </a:rPr>
              <a:t>des</a:t>
            </a:r>
            <a:r>
              <a:rPr dirty="0" sz="32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125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dirty="0" sz="3250" spc="45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50">
                <a:solidFill>
                  <a:srgbClr val="FFFFFF"/>
                </a:solidFill>
                <a:latin typeface="Arial MT"/>
                <a:cs typeface="Arial MT"/>
              </a:rPr>
              <a:t>ati</a:t>
            </a:r>
            <a:r>
              <a:rPr dirty="0" sz="32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3250" spc="70">
                <a:solidFill>
                  <a:srgbClr val="FFFFFF"/>
                </a:solidFill>
                <a:latin typeface="Arial MT"/>
                <a:cs typeface="Arial MT"/>
              </a:rPr>
              <a:t>ues</a:t>
            </a:r>
            <a:r>
              <a:rPr dirty="0" sz="325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FFFFFF"/>
                </a:solidFill>
                <a:latin typeface="Arial MT"/>
                <a:cs typeface="Arial MT"/>
              </a:rPr>
              <a:t>Peeties.</a:t>
            </a:r>
            <a:endParaRPr sz="325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02400" y="6045200"/>
            <a:ext cx="927100" cy="10033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93400" y="5321300"/>
            <a:ext cx="1143000" cy="30480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76981" y="406047"/>
            <a:ext cx="262128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35">
                <a:solidFill>
                  <a:srgbClr val="0F0F0F"/>
                </a:solidFill>
                <a:latin typeface="Arial MT"/>
                <a:cs typeface="Arial MT"/>
              </a:rPr>
              <a:t>Clinical</a:t>
            </a:r>
            <a:r>
              <a:rPr dirty="0" sz="2150" spc="-1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150" spc="-45">
                <a:solidFill>
                  <a:srgbClr val="0F0F0F"/>
                </a:solidFill>
                <a:latin typeface="Arial MT"/>
                <a:cs typeface="Arial MT"/>
              </a:rPr>
              <a:t>Swiss</a:t>
            </a:r>
            <a:r>
              <a:rPr dirty="0" sz="2150" spc="-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150" spc="-20">
                <a:solidFill>
                  <a:srgbClr val="111111"/>
                </a:solidFill>
                <a:latin typeface="Arial MT"/>
                <a:cs typeface="Arial MT"/>
              </a:rPr>
              <a:t>éditorial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56786" y="768349"/>
            <a:ext cx="10376535" cy="1447800"/>
          </a:xfrm>
          <a:prstGeom prst="rect"/>
        </p:spPr>
        <p:txBody>
          <a:bodyPr wrap="square" lIns="0" tIns="119380" rIns="0" bIns="0" rtlCol="0" vert="horz">
            <a:spAutoFit/>
          </a:bodyPr>
          <a:lstStyle/>
          <a:p>
            <a:pPr marL="24130" marR="5080" indent="-12065">
              <a:lnSpc>
                <a:spcPts val="5200"/>
              </a:lnSpc>
              <a:spcBef>
                <a:spcPts val="940"/>
              </a:spcBef>
            </a:pPr>
            <a:r>
              <a:rPr dirty="0" sz="5000">
                <a:solidFill>
                  <a:srgbClr val="153156"/>
                </a:solidFill>
              </a:rPr>
              <a:t>L'écart</a:t>
            </a:r>
            <a:r>
              <a:rPr dirty="0" sz="5000" spc="70">
                <a:solidFill>
                  <a:srgbClr val="153156"/>
                </a:solidFill>
              </a:rPr>
              <a:t> </a:t>
            </a:r>
            <a:r>
              <a:rPr dirty="0" sz="5000" spc="85">
                <a:solidFill>
                  <a:srgbClr val="112F54"/>
                </a:solidFill>
              </a:rPr>
              <a:t>entre</a:t>
            </a:r>
            <a:r>
              <a:rPr dirty="0" sz="5000" spc="-165">
                <a:solidFill>
                  <a:srgbClr val="112F54"/>
                </a:solidFill>
              </a:rPr>
              <a:t> </a:t>
            </a:r>
            <a:r>
              <a:rPr dirty="0" sz="5000">
                <a:solidFill>
                  <a:srgbClr val="112A4B"/>
                </a:solidFill>
              </a:rPr>
              <a:t>la</a:t>
            </a:r>
            <a:r>
              <a:rPr dirty="0" sz="5000" spc="-225">
                <a:solidFill>
                  <a:srgbClr val="112A4B"/>
                </a:solidFill>
              </a:rPr>
              <a:t> </a:t>
            </a:r>
            <a:r>
              <a:rPr dirty="0" sz="5000" spc="100">
                <a:solidFill>
                  <a:srgbClr val="132A49"/>
                </a:solidFill>
              </a:rPr>
              <a:t>théorie</a:t>
            </a:r>
            <a:r>
              <a:rPr dirty="0" sz="5000" spc="-30">
                <a:solidFill>
                  <a:srgbClr val="132A49"/>
                </a:solidFill>
              </a:rPr>
              <a:t> </a:t>
            </a:r>
            <a:r>
              <a:rPr dirty="0" sz="5000" spc="80">
                <a:solidFill>
                  <a:srgbClr val="152D4F"/>
                </a:solidFill>
              </a:rPr>
              <a:t>et</a:t>
            </a:r>
            <a:r>
              <a:rPr dirty="0" sz="5000" spc="-150">
                <a:solidFill>
                  <a:srgbClr val="152D4F"/>
                </a:solidFill>
              </a:rPr>
              <a:t> </a:t>
            </a:r>
            <a:r>
              <a:rPr dirty="0" sz="5000">
                <a:solidFill>
                  <a:srgbClr val="132D50"/>
                </a:solidFill>
              </a:rPr>
              <a:t>la</a:t>
            </a:r>
            <a:r>
              <a:rPr dirty="0" sz="5000" spc="-150">
                <a:solidFill>
                  <a:srgbClr val="132D50"/>
                </a:solidFill>
              </a:rPr>
              <a:t> </a:t>
            </a:r>
            <a:r>
              <a:rPr dirty="0" sz="5000" spc="95">
                <a:solidFill>
                  <a:srgbClr val="0F2646"/>
                </a:solidFill>
              </a:rPr>
              <a:t>pratique </a:t>
            </a:r>
            <a:r>
              <a:rPr dirty="0" sz="5000" spc="75">
                <a:solidFill>
                  <a:srgbClr val="132B4D"/>
                </a:solidFill>
              </a:rPr>
              <a:t>quotidienne</a:t>
            </a:r>
            <a:endParaRPr sz="5000"/>
          </a:p>
        </p:txBody>
      </p:sp>
      <p:sp>
        <p:nvSpPr>
          <p:cNvPr id="14" name="object 14" descr=""/>
          <p:cNvSpPr txBox="1"/>
          <p:nvPr/>
        </p:nvSpPr>
        <p:spPr>
          <a:xfrm>
            <a:off x="3269571" y="5357988"/>
            <a:ext cx="199390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60">
                <a:latin typeface="Arial MT"/>
                <a:cs typeface="Arial MT"/>
              </a:rPr>
              <a:t>Théorie</a:t>
            </a:r>
            <a:r>
              <a:rPr dirty="0" sz="2350" spc="105">
                <a:latin typeface="Arial MT"/>
                <a:cs typeface="Arial MT"/>
              </a:rPr>
              <a:t> </a:t>
            </a:r>
            <a:r>
              <a:rPr dirty="0" sz="2350" spc="-60">
                <a:latin typeface="Arial MT"/>
                <a:cs typeface="Arial MT"/>
              </a:rPr>
              <a:t>(NRD)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149248" y="7097889"/>
            <a:ext cx="1600200" cy="71564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5080" indent="62865">
              <a:lnSpc>
                <a:spcPts val="2600"/>
              </a:lnSpc>
              <a:spcBef>
                <a:spcPts val="380"/>
              </a:spcBef>
            </a:pPr>
            <a:r>
              <a:rPr dirty="0" sz="2350" spc="-40">
                <a:latin typeface="Arial MT"/>
                <a:cs typeface="Arial MT"/>
              </a:rPr>
              <a:t>Paramètres </a:t>
            </a:r>
            <a:r>
              <a:rPr dirty="0" sz="2350" spc="-50">
                <a:latin typeface="Arial MT"/>
                <a:cs typeface="Arial MT"/>
              </a:rPr>
              <a:t>d'acquisition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761645" y="2364669"/>
            <a:ext cx="6704965" cy="2212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45">
                <a:latin typeface="Arial MT"/>
                <a:cs typeface="Arial MT"/>
              </a:rPr>
              <a:t>Variability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400">
              <a:latin typeface="Arial MT"/>
              <a:cs typeface="Arial MT"/>
            </a:endParaRPr>
          </a:p>
          <a:p>
            <a:pPr algn="just" marL="2911475" marR="5080" indent="-12700">
              <a:lnSpc>
                <a:spcPts val="2800"/>
              </a:lnSpc>
            </a:pPr>
            <a:r>
              <a:rPr dirty="0" sz="2400">
                <a:latin typeface="Arial MT"/>
                <a:cs typeface="Arial MT"/>
              </a:rPr>
              <a:t>Malgré</a:t>
            </a:r>
            <a:r>
              <a:rPr dirty="0" sz="2400" spc="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l'existence</a:t>
            </a:r>
            <a:r>
              <a:rPr dirty="0" sz="2400" spc="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40">
                <a:latin typeface="Arial MT"/>
                <a:cs typeface="Arial MT"/>
              </a:rPr>
              <a:t>NRD, </a:t>
            </a:r>
            <a:r>
              <a:rPr dirty="0" sz="2400">
                <a:latin typeface="Arial MT"/>
                <a:cs typeface="Arial MT"/>
              </a:rPr>
              <a:t>des variations</a:t>
            </a:r>
            <a:r>
              <a:rPr dirty="0" sz="2400" spc="1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significatives </a:t>
            </a:r>
            <a:r>
              <a:rPr dirty="0" sz="2400">
                <a:latin typeface="Arial MT"/>
                <a:cs typeface="Arial MT"/>
              </a:rPr>
              <a:t>de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dose</a:t>
            </a:r>
            <a:r>
              <a:rPr dirty="0" sz="2400" spc="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patient</a:t>
            </a:r>
            <a:r>
              <a:rPr dirty="0" sz="2400" spc="2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persistent.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396283" y="5107869"/>
            <a:ext cx="215265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Pratique</a:t>
            </a:r>
            <a:r>
              <a:rPr dirty="0" sz="2400" spc="3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Réelle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67651" y="7115527"/>
            <a:ext cx="1228090" cy="69469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 indent="294640">
              <a:lnSpc>
                <a:spcPts val="2600"/>
              </a:lnSpc>
              <a:spcBef>
                <a:spcPts val="240"/>
              </a:spcBef>
            </a:pPr>
            <a:r>
              <a:rPr dirty="0" sz="2200" spc="-20">
                <a:latin typeface="Arial MT"/>
                <a:cs typeface="Arial MT"/>
              </a:rPr>
              <a:t>Type </a:t>
            </a:r>
            <a:r>
              <a:rPr dirty="0" sz="2200" spc="-10">
                <a:latin typeface="Arial MT"/>
                <a:cs typeface="Arial MT"/>
              </a:rPr>
              <a:t>d'examen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916095" y="7115527"/>
            <a:ext cx="2106295" cy="69469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 indent="428625">
              <a:lnSpc>
                <a:spcPts val="2600"/>
              </a:lnSpc>
              <a:spcBef>
                <a:spcPts val="240"/>
              </a:spcBef>
            </a:pPr>
            <a:r>
              <a:rPr dirty="0" sz="2200" spc="-10">
                <a:latin typeface="Arial MT"/>
                <a:cs typeface="Arial MT"/>
              </a:rPr>
              <a:t>Pratiques professionnelles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1300" y="7429500"/>
            <a:ext cx="1612900" cy="1587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0900" y="4889500"/>
            <a:ext cx="304800" cy="635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21700" y="6057900"/>
            <a:ext cx="1003300" cy="1003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40500" y="1955800"/>
            <a:ext cx="4394200" cy="18923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63009" y="4617280"/>
            <a:ext cx="2663825" cy="15525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algn="just" marL="12700" marR="5080" indent="574675">
              <a:lnSpc>
                <a:spcPct val="98000"/>
              </a:lnSpc>
              <a:spcBef>
                <a:spcPts val="409"/>
              </a:spcBef>
            </a:pPr>
            <a:r>
              <a:rPr dirty="0" sz="2750">
                <a:solidFill>
                  <a:srgbClr val="001124"/>
                </a:solidFill>
                <a:latin typeface="Arial MT"/>
                <a:cs typeface="Arial MT"/>
              </a:rPr>
              <a:t>Conformité</a:t>
            </a:r>
            <a:r>
              <a:rPr dirty="0" sz="2750" spc="445">
                <a:solidFill>
                  <a:srgbClr val="001124"/>
                </a:solidFill>
                <a:latin typeface="Arial MT"/>
                <a:cs typeface="Arial MT"/>
              </a:rPr>
              <a:t> </a:t>
            </a:r>
            <a:r>
              <a:rPr dirty="0" sz="2750" spc="-50">
                <a:solidFill>
                  <a:srgbClr val="0A1D38"/>
                </a:solidFill>
                <a:latin typeface="Arial MT"/>
                <a:cs typeface="Arial MT"/>
              </a:rPr>
              <a:t>? </a:t>
            </a:r>
            <a:r>
              <a:rPr dirty="0" sz="2350" spc="-10">
                <a:solidFill>
                  <a:srgbClr val="0E0E0E"/>
                </a:solidFill>
                <a:latin typeface="Arial MT"/>
                <a:cs typeface="Arial MT"/>
              </a:rPr>
              <a:t>Les</a:t>
            </a:r>
            <a:r>
              <a:rPr dirty="0" sz="2350" spc="-10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111111"/>
                </a:solidFill>
                <a:latin typeface="Arial MT"/>
                <a:cs typeface="Arial MT"/>
              </a:rPr>
              <a:t>doses</a:t>
            </a:r>
            <a:r>
              <a:rPr dirty="0" sz="2350" spc="-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050505"/>
                </a:solidFill>
                <a:latin typeface="Arial MT"/>
                <a:cs typeface="Arial MT"/>
              </a:rPr>
              <a:t>actuelles </a:t>
            </a:r>
            <a:r>
              <a:rPr dirty="0" sz="2550" spc="-75">
                <a:latin typeface="Arial MT"/>
                <a:cs typeface="Arial MT"/>
              </a:rPr>
              <a:t>respectent-</a:t>
            </a:r>
            <a:r>
              <a:rPr dirty="0" sz="2550" spc="-55">
                <a:latin typeface="Arial MT"/>
                <a:cs typeface="Arial MT"/>
              </a:rPr>
              <a:t>elles</a:t>
            </a:r>
            <a:r>
              <a:rPr dirty="0" sz="2550" spc="-40">
                <a:latin typeface="Arial MT"/>
                <a:cs typeface="Arial MT"/>
              </a:rPr>
              <a:t> </a:t>
            </a:r>
            <a:r>
              <a:rPr dirty="0" sz="2550" spc="-25">
                <a:latin typeface="Arial MT"/>
                <a:cs typeface="Arial MT"/>
              </a:rPr>
              <a:t>les</a:t>
            </a:r>
            <a:endParaRPr sz="2550">
              <a:latin typeface="Arial MT"/>
              <a:cs typeface="Arial MT"/>
            </a:endParaRPr>
          </a:p>
          <a:p>
            <a:pPr algn="r" marR="10795">
              <a:lnSpc>
                <a:spcPts val="2710"/>
              </a:lnSpc>
            </a:pPr>
            <a:r>
              <a:rPr dirty="0" sz="2600" spc="-360">
                <a:solidFill>
                  <a:srgbClr val="030303"/>
                </a:solidFill>
                <a:latin typeface="Arial MT"/>
                <a:cs typeface="Arial MT"/>
              </a:rPr>
              <a:t>NRD</a:t>
            </a:r>
            <a:r>
              <a:rPr dirty="0" sz="2600" spc="-1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600" spc="-350">
                <a:solidFill>
                  <a:srgbClr val="0F0F0F"/>
                </a:solidFill>
                <a:latin typeface="Arial MT"/>
                <a:cs typeface="Arial MT"/>
              </a:rPr>
              <a:t>?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34886" y="603249"/>
            <a:ext cx="1040511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>
                <a:solidFill>
                  <a:srgbClr val="0C284D"/>
                </a:solidFill>
              </a:rPr>
              <a:t>La</a:t>
            </a:r>
            <a:r>
              <a:rPr dirty="0" sz="5000" spc="-170">
                <a:solidFill>
                  <a:srgbClr val="0C284D"/>
                </a:solidFill>
              </a:rPr>
              <a:t> </a:t>
            </a:r>
            <a:r>
              <a:rPr dirty="0" sz="5000" spc="120">
                <a:solidFill>
                  <a:srgbClr val="0C284D"/>
                </a:solidFill>
              </a:rPr>
              <a:t>Question</a:t>
            </a:r>
            <a:r>
              <a:rPr dirty="0" sz="5000" spc="-180">
                <a:solidFill>
                  <a:srgbClr val="0C284D"/>
                </a:solidFill>
              </a:rPr>
              <a:t> </a:t>
            </a:r>
            <a:r>
              <a:rPr dirty="0" sz="5000" spc="110">
                <a:solidFill>
                  <a:srgbClr val="0C2644"/>
                </a:solidFill>
              </a:rPr>
              <a:t>Centrale</a:t>
            </a:r>
            <a:r>
              <a:rPr dirty="0" sz="5000" spc="-5">
                <a:solidFill>
                  <a:srgbClr val="0C2644"/>
                </a:solidFill>
              </a:rPr>
              <a:t> </a:t>
            </a:r>
            <a:r>
              <a:rPr dirty="0" sz="5000" spc="160">
                <a:solidFill>
                  <a:srgbClr val="0A264D"/>
                </a:solidFill>
              </a:rPr>
              <a:t>de</a:t>
            </a:r>
            <a:r>
              <a:rPr dirty="0" sz="5000" spc="-409">
                <a:solidFill>
                  <a:srgbClr val="0A264D"/>
                </a:solidFill>
              </a:rPr>
              <a:t> </a:t>
            </a:r>
            <a:r>
              <a:rPr dirty="0" sz="5000" spc="-10">
                <a:solidFill>
                  <a:srgbClr val="0C284D"/>
                </a:solidFill>
              </a:rPr>
              <a:t>Recherche</a:t>
            </a:r>
            <a:endParaRPr sz="5000"/>
          </a:p>
        </p:txBody>
      </p:sp>
      <p:sp>
        <p:nvSpPr>
          <p:cNvPr id="8" name="object 8" descr=""/>
          <p:cNvSpPr txBox="1"/>
          <p:nvPr/>
        </p:nvSpPr>
        <p:spPr>
          <a:xfrm>
            <a:off x="13213195" y="2168172"/>
            <a:ext cx="2964180" cy="1176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55">
                <a:solidFill>
                  <a:srgbClr val="081C36"/>
                </a:solidFill>
                <a:latin typeface="Arial MT"/>
                <a:cs typeface="Arial MT"/>
              </a:rPr>
              <a:t>Influence</a:t>
            </a:r>
            <a:r>
              <a:rPr dirty="0" sz="2750" spc="-30">
                <a:solidFill>
                  <a:srgbClr val="081C36"/>
                </a:solidFill>
                <a:latin typeface="Arial MT"/>
                <a:cs typeface="Arial MT"/>
              </a:rPr>
              <a:t> </a:t>
            </a:r>
            <a:r>
              <a:rPr dirty="0" sz="2750" spc="-50">
                <a:solidFill>
                  <a:srgbClr val="051631"/>
                </a:solidFill>
                <a:latin typeface="Arial MT"/>
                <a:cs typeface="Arial MT"/>
              </a:rPr>
              <a:t>?</a:t>
            </a:r>
            <a:endParaRPr sz="2750">
              <a:latin typeface="Arial MT"/>
              <a:cs typeface="Arial MT"/>
            </a:endParaRPr>
          </a:p>
          <a:p>
            <a:pPr marL="31750">
              <a:lnSpc>
                <a:spcPts val="2900"/>
              </a:lnSpc>
              <a:spcBef>
                <a:spcPts val="50"/>
              </a:spcBef>
            </a:pPr>
            <a:r>
              <a:rPr dirty="0" sz="2500" spc="-130">
                <a:solidFill>
                  <a:srgbClr val="0C0C0C"/>
                </a:solidFill>
                <a:latin typeface="Arial MT"/>
                <a:cs typeface="Arial MT"/>
              </a:rPr>
              <a:t>Quels</a:t>
            </a:r>
            <a:r>
              <a:rPr dirty="0" sz="2500" spc="-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500" spc="-75">
                <a:solidFill>
                  <a:srgbClr val="050505"/>
                </a:solidFill>
                <a:latin typeface="Arial MT"/>
                <a:cs typeface="Arial MT"/>
              </a:rPr>
              <a:t>paramètres</a:t>
            </a:r>
            <a:r>
              <a:rPr dirty="0" sz="2500" spc="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(kV,</a:t>
            </a:r>
            <a:endParaRPr sz="2500">
              <a:latin typeface="Arial MT"/>
              <a:cs typeface="Arial MT"/>
            </a:endParaRPr>
          </a:p>
          <a:p>
            <a:pPr marL="24765">
              <a:lnSpc>
                <a:spcPts val="2780"/>
              </a:lnSpc>
            </a:pPr>
            <a:r>
              <a:rPr dirty="0" sz="2400" spc="-55">
                <a:latin typeface="Arial MT"/>
                <a:cs typeface="Arial MT"/>
              </a:rPr>
              <a:t>mAs)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30303"/>
                </a:solidFill>
                <a:latin typeface="Arial MT"/>
                <a:cs typeface="Arial MT"/>
              </a:rPr>
              <a:t>pèsent</a:t>
            </a:r>
            <a:r>
              <a:rPr dirty="0" sz="2400" spc="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F0F0F"/>
                </a:solidFill>
                <a:latin typeface="Arial MT"/>
                <a:cs typeface="Arial MT"/>
              </a:rPr>
              <a:t>le</a:t>
            </a:r>
            <a:r>
              <a:rPr dirty="0" sz="2400" spc="-1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plus</a:t>
            </a:r>
            <a:r>
              <a:rPr dirty="0" sz="2400" spc="-170"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0A0A0A"/>
                </a:solidFill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60063" y="3812469"/>
            <a:ext cx="9523095" cy="21913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 marL="12700" marR="5080" indent="123825">
              <a:lnSpc>
                <a:spcPct val="98000"/>
              </a:lnSpc>
              <a:spcBef>
                <a:spcPts val="215"/>
              </a:spcBef>
            </a:pPr>
            <a:r>
              <a:rPr dirty="0" sz="3650">
                <a:solidFill>
                  <a:srgbClr val="0C2646"/>
                </a:solidFill>
                <a:latin typeface="Arial MT"/>
                <a:cs typeface="Arial MT"/>
              </a:rPr>
              <a:t>Comment</a:t>
            </a:r>
            <a:r>
              <a:rPr dirty="0" sz="3650" spc="110">
                <a:solidFill>
                  <a:srgbClr val="0C2646"/>
                </a:solidFill>
                <a:latin typeface="Arial MT"/>
                <a:cs typeface="Arial MT"/>
              </a:rPr>
              <a:t> </a:t>
            </a:r>
            <a:r>
              <a:rPr dirty="0" sz="3650" spc="110">
                <a:solidFill>
                  <a:srgbClr val="071F3F"/>
                </a:solidFill>
                <a:latin typeface="Arial MT"/>
                <a:cs typeface="Arial MT"/>
              </a:rPr>
              <a:t>le</a:t>
            </a:r>
            <a:r>
              <a:rPr dirty="0" sz="3650" spc="-300">
                <a:solidFill>
                  <a:srgbClr val="071F3F"/>
                </a:solidFill>
                <a:latin typeface="Arial MT"/>
                <a:cs typeface="Arial MT"/>
              </a:rPr>
              <a:t> </a:t>
            </a:r>
            <a:r>
              <a:rPr dirty="0" sz="3650" spc="90">
                <a:solidFill>
                  <a:srgbClr val="0C2348"/>
                </a:solidFill>
                <a:latin typeface="Arial MT"/>
                <a:cs typeface="Arial MT"/>
              </a:rPr>
              <a:t>technicien</a:t>
            </a:r>
            <a:r>
              <a:rPr dirty="0" sz="3650" spc="-70">
                <a:solidFill>
                  <a:srgbClr val="0C2348"/>
                </a:solidFill>
                <a:latin typeface="Arial MT"/>
                <a:cs typeface="Arial MT"/>
              </a:rPr>
              <a:t> </a:t>
            </a:r>
            <a:r>
              <a:rPr dirty="0" sz="3650" spc="75">
                <a:solidFill>
                  <a:srgbClr val="0F2646"/>
                </a:solidFill>
                <a:latin typeface="Arial MT"/>
                <a:cs typeface="Arial MT"/>
              </a:rPr>
              <a:t>en</a:t>
            </a:r>
            <a:r>
              <a:rPr dirty="0" sz="3650" spc="-325">
                <a:solidFill>
                  <a:srgbClr val="0F2646"/>
                </a:solidFill>
                <a:latin typeface="Arial MT"/>
                <a:cs typeface="Arial MT"/>
              </a:rPr>
              <a:t> </a:t>
            </a:r>
            <a:r>
              <a:rPr dirty="0" sz="3650" spc="55">
                <a:solidFill>
                  <a:srgbClr val="071D3F"/>
                </a:solidFill>
                <a:latin typeface="Arial MT"/>
                <a:cs typeface="Arial MT"/>
              </a:rPr>
              <a:t>radiologie</a:t>
            </a:r>
            <a:r>
              <a:rPr dirty="0" sz="3650" spc="-40">
                <a:solidFill>
                  <a:srgbClr val="071D3F"/>
                </a:solidFill>
                <a:latin typeface="Arial MT"/>
                <a:cs typeface="Arial MT"/>
              </a:rPr>
              <a:t> </a:t>
            </a:r>
            <a:r>
              <a:rPr dirty="0" sz="3650" spc="175">
                <a:solidFill>
                  <a:srgbClr val="081F3F"/>
                </a:solidFill>
                <a:latin typeface="Arial MT"/>
                <a:cs typeface="Arial MT"/>
              </a:rPr>
              <a:t>peut-</a:t>
            </a:r>
            <a:r>
              <a:rPr dirty="0" sz="3650" spc="55">
                <a:solidFill>
                  <a:srgbClr val="081F3F"/>
                </a:solidFill>
                <a:latin typeface="Arial MT"/>
                <a:cs typeface="Arial MT"/>
              </a:rPr>
              <a:t>il </a:t>
            </a:r>
            <a:r>
              <a:rPr dirty="0" sz="3600" spc="95">
                <a:solidFill>
                  <a:srgbClr val="0C2449"/>
                </a:solidFill>
                <a:latin typeface="Arial MT"/>
                <a:cs typeface="Arial MT"/>
              </a:rPr>
              <a:t>contribuer</a:t>
            </a:r>
            <a:r>
              <a:rPr dirty="0" sz="3600" spc="280">
                <a:solidFill>
                  <a:srgbClr val="0C2449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072348"/>
                </a:solidFill>
                <a:latin typeface="Arial MT"/>
                <a:cs typeface="Arial MT"/>
              </a:rPr>
              <a:t>à</a:t>
            </a:r>
            <a:r>
              <a:rPr dirty="0" sz="3600" spc="-30">
                <a:solidFill>
                  <a:srgbClr val="072348"/>
                </a:solidFill>
                <a:latin typeface="Arial MT"/>
                <a:cs typeface="Arial MT"/>
              </a:rPr>
              <a:t> </a:t>
            </a:r>
            <a:r>
              <a:rPr dirty="0" sz="3600" spc="140">
                <a:solidFill>
                  <a:srgbClr val="3680AA"/>
                </a:solidFill>
                <a:latin typeface="Arial MT"/>
                <a:cs typeface="Arial MT"/>
              </a:rPr>
              <a:t>l'optimisation</a:t>
            </a:r>
            <a:r>
              <a:rPr dirty="0" sz="3600" spc="-225">
                <a:solidFill>
                  <a:srgbClr val="3680AA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2F7CA5"/>
                </a:solidFill>
                <a:latin typeface="Arial MT"/>
                <a:cs typeface="Arial MT"/>
              </a:rPr>
              <a:t>de</a:t>
            </a:r>
            <a:r>
              <a:rPr dirty="0" sz="3600" spc="-210">
                <a:solidFill>
                  <a:srgbClr val="2F7CA5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317EA5"/>
                </a:solidFill>
                <a:latin typeface="Arial MT"/>
                <a:cs typeface="Arial MT"/>
              </a:rPr>
              <a:t>la</a:t>
            </a:r>
            <a:r>
              <a:rPr dirty="0" sz="3600" spc="-35">
                <a:solidFill>
                  <a:srgbClr val="317EA5"/>
                </a:solidFill>
                <a:latin typeface="Arial MT"/>
                <a:cs typeface="Arial MT"/>
              </a:rPr>
              <a:t> </a:t>
            </a:r>
            <a:r>
              <a:rPr dirty="0" sz="3600" spc="50">
                <a:solidFill>
                  <a:srgbClr val="2D77A0"/>
                </a:solidFill>
                <a:latin typeface="Arial MT"/>
                <a:cs typeface="Arial MT"/>
              </a:rPr>
              <a:t>dose</a:t>
            </a:r>
            <a:r>
              <a:rPr dirty="0" sz="3600" spc="-175">
                <a:solidFill>
                  <a:srgbClr val="2D77A0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164B77"/>
                </a:solidFill>
                <a:latin typeface="Arial MT"/>
                <a:cs typeface="Arial MT"/>
              </a:rPr>
              <a:t>reçue </a:t>
            </a:r>
            <a:r>
              <a:rPr dirty="0" sz="3550">
                <a:solidFill>
                  <a:srgbClr val="3183AF"/>
                </a:solidFill>
                <a:latin typeface="Arial MT"/>
                <a:cs typeface="Arial MT"/>
              </a:rPr>
              <a:t>par</a:t>
            </a:r>
            <a:r>
              <a:rPr dirty="0" sz="3550" spc="65">
                <a:solidFill>
                  <a:srgbClr val="3183AF"/>
                </a:solidFill>
                <a:latin typeface="Arial MT"/>
                <a:cs typeface="Arial MT"/>
              </a:rPr>
              <a:t> </a:t>
            </a:r>
            <a:r>
              <a:rPr dirty="0" sz="3550" spc="80">
                <a:solidFill>
                  <a:srgbClr val="317EAA"/>
                </a:solidFill>
                <a:latin typeface="Arial MT"/>
                <a:cs typeface="Arial MT"/>
              </a:rPr>
              <a:t>le</a:t>
            </a:r>
            <a:r>
              <a:rPr dirty="0" sz="3550" spc="-225">
                <a:solidFill>
                  <a:srgbClr val="317EAA"/>
                </a:solidFill>
                <a:latin typeface="Arial MT"/>
                <a:cs typeface="Arial MT"/>
              </a:rPr>
              <a:t> </a:t>
            </a:r>
            <a:r>
              <a:rPr dirty="0" sz="3550" spc="130">
                <a:solidFill>
                  <a:srgbClr val="2A79A1"/>
                </a:solidFill>
                <a:latin typeface="Arial MT"/>
                <a:cs typeface="Arial MT"/>
              </a:rPr>
              <a:t>patient</a:t>
            </a:r>
            <a:r>
              <a:rPr dirty="0" sz="3550" spc="60">
                <a:solidFill>
                  <a:srgbClr val="2A79A1"/>
                </a:solidFill>
                <a:latin typeface="Arial MT"/>
                <a:cs typeface="Arial MT"/>
              </a:rPr>
              <a:t> </a:t>
            </a:r>
            <a:r>
              <a:rPr dirty="0" sz="3550" spc="114">
                <a:solidFill>
                  <a:srgbClr val="0A1F3D"/>
                </a:solidFill>
                <a:latin typeface="Arial MT"/>
                <a:cs typeface="Arial MT"/>
              </a:rPr>
              <a:t>en</a:t>
            </a:r>
            <a:r>
              <a:rPr dirty="0" sz="3550" spc="-135">
                <a:solidFill>
                  <a:srgbClr val="0A1F3D"/>
                </a:solidFill>
                <a:latin typeface="Arial MT"/>
                <a:cs typeface="Arial MT"/>
              </a:rPr>
              <a:t> </a:t>
            </a:r>
            <a:r>
              <a:rPr dirty="0" sz="3550">
                <a:solidFill>
                  <a:srgbClr val="0E2648"/>
                </a:solidFill>
                <a:latin typeface="Arial MT"/>
                <a:cs typeface="Arial MT"/>
              </a:rPr>
              <a:t>TDM</a:t>
            </a:r>
            <a:r>
              <a:rPr dirty="0" sz="3550" spc="-200">
                <a:solidFill>
                  <a:srgbClr val="0E2648"/>
                </a:solidFill>
                <a:latin typeface="Arial MT"/>
                <a:cs typeface="Arial MT"/>
              </a:rPr>
              <a:t> </a:t>
            </a:r>
            <a:r>
              <a:rPr dirty="0" sz="3550" spc="170">
                <a:solidFill>
                  <a:srgbClr val="0C2649"/>
                </a:solidFill>
                <a:latin typeface="Arial MT"/>
                <a:cs typeface="Arial MT"/>
              </a:rPr>
              <a:t>tout</a:t>
            </a:r>
            <a:r>
              <a:rPr dirty="0" sz="3550" spc="5">
                <a:solidFill>
                  <a:srgbClr val="0C2649"/>
                </a:solidFill>
                <a:latin typeface="Arial MT"/>
                <a:cs typeface="Arial MT"/>
              </a:rPr>
              <a:t> </a:t>
            </a:r>
            <a:r>
              <a:rPr dirty="0" sz="3550" spc="75">
                <a:solidFill>
                  <a:srgbClr val="051C41"/>
                </a:solidFill>
                <a:latin typeface="Arial MT"/>
                <a:cs typeface="Arial MT"/>
              </a:rPr>
              <a:t>en</a:t>
            </a:r>
            <a:r>
              <a:rPr dirty="0" sz="3550" spc="-195">
                <a:solidFill>
                  <a:srgbClr val="051C41"/>
                </a:solidFill>
                <a:latin typeface="Arial MT"/>
                <a:cs typeface="Arial MT"/>
              </a:rPr>
              <a:t> </a:t>
            </a:r>
            <a:r>
              <a:rPr dirty="0" sz="3550" spc="80">
                <a:solidFill>
                  <a:srgbClr val="08213D"/>
                </a:solidFill>
                <a:latin typeface="Arial MT"/>
                <a:cs typeface="Arial MT"/>
              </a:rPr>
              <a:t>garantissant </a:t>
            </a:r>
            <a:r>
              <a:rPr dirty="0" sz="3600" spc="75">
                <a:solidFill>
                  <a:srgbClr val="0A2141"/>
                </a:solidFill>
                <a:latin typeface="Arial MT"/>
                <a:cs typeface="Arial MT"/>
              </a:rPr>
              <a:t>une</a:t>
            </a:r>
            <a:r>
              <a:rPr dirty="0" sz="3600" spc="-155">
                <a:solidFill>
                  <a:srgbClr val="0A2141"/>
                </a:solidFill>
                <a:latin typeface="Arial MT"/>
                <a:cs typeface="Arial MT"/>
              </a:rPr>
              <a:t> </a:t>
            </a:r>
            <a:r>
              <a:rPr dirty="0" sz="3600" spc="85">
                <a:solidFill>
                  <a:srgbClr val="081C3B"/>
                </a:solidFill>
                <a:latin typeface="Arial MT"/>
                <a:cs typeface="Arial MT"/>
              </a:rPr>
              <a:t>qualité</a:t>
            </a:r>
            <a:r>
              <a:rPr dirty="0" sz="3600" spc="-60">
                <a:solidFill>
                  <a:srgbClr val="081C3B"/>
                </a:solidFill>
                <a:latin typeface="Arial MT"/>
                <a:cs typeface="Arial MT"/>
              </a:rPr>
              <a:t> </a:t>
            </a:r>
            <a:r>
              <a:rPr dirty="0" sz="3600" spc="65">
                <a:solidFill>
                  <a:srgbClr val="0C2444"/>
                </a:solidFill>
                <a:latin typeface="Arial MT"/>
                <a:cs typeface="Arial MT"/>
              </a:rPr>
              <a:t>d'image</a:t>
            </a:r>
            <a:r>
              <a:rPr dirty="0" sz="3600" spc="80">
                <a:solidFill>
                  <a:srgbClr val="0C2444"/>
                </a:solidFill>
                <a:latin typeface="Arial MT"/>
                <a:cs typeface="Arial MT"/>
              </a:rPr>
              <a:t> </a:t>
            </a:r>
            <a:r>
              <a:rPr dirty="0" sz="3600" spc="80">
                <a:solidFill>
                  <a:srgbClr val="0A213F"/>
                </a:solidFill>
                <a:latin typeface="Arial MT"/>
                <a:cs typeface="Arial MT"/>
              </a:rPr>
              <a:t>diagnostique</a:t>
            </a:r>
            <a:r>
              <a:rPr dirty="0" sz="3600" spc="95">
                <a:solidFill>
                  <a:srgbClr val="0A213F"/>
                </a:solidFill>
                <a:latin typeface="Arial MT"/>
                <a:cs typeface="Arial MT"/>
              </a:rPr>
              <a:t> </a:t>
            </a:r>
            <a:r>
              <a:rPr dirty="0" sz="3600" spc="85">
                <a:solidFill>
                  <a:srgbClr val="071D3D"/>
                </a:solidFill>
                <a:latin typeface="Arial MT"/>
                <a:cs typeface="Arial MT"/>
              </a:rPr>
              <a:t>conforme</a:t>
            </a:r>
            <a:r>
              <a:rPr dirty="0" sz="3600" spc="-5">
                <a:solidFill>
                  <a:srgbClr val="071D3D"/>
                </a:solidFill>
                <a:latin typeface="Arial MT"/>
                <a:cs typeface="Arial MT"/>
              </a:rPr>
              <a:t> </a:t>
            </a:r>
            <a:r>
              <a:rPr dirty="0" sz="3600" spc="-50">
                <a:solidFill>
                  <a:srgbClr val="07213F"/>
                </a:solidFill>
                <a:latin typeface="Arial MT"/>
                <a:cs typeface="Arial MT"/>
              </a:rPr>
              <a:t>?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048919" y="7493093"/>
            <a:ext cx="3382645" cy="121602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700" spc="60">
                <a:solidFill>
                  <a:srgbClr val="03152D"/>
                </a:solidFill>
                <a:latin typeface="Arial MT"/>
                <a:cs typeface="Arial MT"/>
              </a:rPr>
              <a:t>Impact</a:t>
            </a:r>
            <a:r>
              <a:rPr dirty="0" sz="2700" spc="-20">
                <a:solidFill>
                  <a:srgbClr val="03152D"/>
                </a:solidFill>
                <a:latin typeface="Arial MT"/>
                <a:cs typeface="Arial MT"/>
              </a:rPr>
              <a:t> </a:t>
            </a:r>
            <a:r>
              <a:rPr dirty="0" sz="2700" spc="-50">
                <a:solidFill>
                  <a:srgbClr val="010F24"/>
                </a:solidFill>
                <a:latin typeface="Arial MT"/>
                <a:cs typeface="Arial MT"/>
              </a:rPr>
              <a:t>?</a:t>
            </a:r>
            <a:endParaRPr sz="2700">
              <a:latin typeface="Arial MT"/>
              <a:cs typeface="Arial MT"/>
            </a:endParaRPr>
          </a:p>
          <a:p>
            <a:pPr marL="24765" marR="5080" indent="-6350">
              <a:lnSpc>
                <a:spcPts val="2650"/>
              </a:lnSpc>
              <a:spcBef>
                <a:spcPts val="540"/>
              </a:spcBef>
            </a:pPr>
            <a:r>
              <a:rPr dirty="0" sz="2350" spc="-35">
                <a:solidFill>
                  <a:srgbClr val="0C0C0C"/>
                </a:solidFill>
                <a:latin typeface="Arial MT"/>
                <a:cs typeface="Arial MT"/>
              </a:rPr>
              <a:t>Quel</a:t>
            </a:r>
            <a:r>
              <a:rPr dirty="0" sz="23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050505"/>
                </a:solidFill>
                <a:latin typeface="Arial MT"/>
                <a:cs typeface="Arial MT"/>
              </a:rPr>
              <a:t>est</a:t>
            </a:r>
            <a:r>
              <a:rPr dirty="0" sz="2350" spc="8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030303"/>
                </a:solidFill>
                <a:latin typeface="Arial MT"/>
                <a:cs typeface="Arial MT"/>
              </a:rPr>
              <a:t>l'effet</a:t>
            </a:r>
            <a:r>
              <a:rPr dirty="0" sz="2350" spc="19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080808"/>
                </a:solidFill>
                <a:latin typeface="Arial MT"/>
                <a:cs typeface="Arial MT"/>
              </a:rPr>
              <a:t>direct</a:t>
            </a:r>
            <a:r>
              <a:rPr dirty="0" sz="2350" spc="22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des </a:t>
            </a:r>
            <a:r>
              <a:rPr dirty="0" sz="2350">
                <a:latin typeface="Arial MT"/>
                <a:cs typeface="Arial MT"/>
              </a:rPr>
              <a:t>pratiques</a:t>
            </a:r>
            <a:r>
              <a:rPr dirty="0" sz="2350" spc="140"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00030F"/>
                </a:solidFill>
                <a:latin typeface="Arial MT"/>
                <a:cs typeface="Arial MT"/>
              </a:rPr>
              <a:t>du</a:t>
            </a:r>
            <a:r>
              <a:rPr dirty="0" sz="2350" spc="30">
                <a:solidFill>
                  <a:srgbClr val="00030F"/>
                </a:solidFill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technicien </a:t>
            </a:r>
            <a:r>
              <a:rPr dirty="0" sz="2350" spc="-80">
                <a:latin typeface="Arial MT"/>
                <a:cs typeface="Arial MT"/>
              </a:rPr>
              <a:t>?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0" y="1600200"/>
            <a:ext cx="12649200" cy="7658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511" rIns="0" bIns="0" rtlCol="0" vert="horz">
            <a:spAutoFit/>
          </a:bodyPr>
          <a:lstStyle/>
          <a:p>
            <a:pPr marL="1610360">
              <a:lnSpc>
                <a:spcPct val="100000"/>
              </a:lnSpc>
              <a:spcBef>
                <a:spcPts val="110"/>
              </a:spcBef>
            </a:pPr>
            <a:r>
              <a:rPr dirty="0" sz="4850" spc="100">
                <a:solidFill>
                  <a:srgbClr val="0C2D5B"/>
                </a:solidFill>
              </a:rPr>
              <a:t>Objectifs</a:t>
            </a:r>
            <a:r>
              <a:rPr dirty="0" sz="4850" spc="210">
                <a:solidFill>
                  <a:srgbClr val="0C2D5B"/>
                </a:solidFill>
              </a:rPr>
              <a:t> </a:t>
            </a:r>
            <a:r>
              <a:rPr dirty="0" sz="4850" spc="75">
                <a:solidFill>
                  <a:srgbClr val="08264D"/>
                </a:solidFill>
              </a:rPr>
              <a:t>de</a:t>
            </a:r>
            <a:r>
              <a:rPr dirty="0" sz="4850" spc="-270">
                <a:solidFill>
                  <a:srgbClr val="08264D"/>
                </a:solidFill>
              </a:rPr>
              <a:t> </a:t>
            </a:r>
            <a:r>
              <a:rPr dirty="0" sz="4850">
                <a:solidFill>
                  <a:srgbClr val="0C2D56"/>
                </a:solidFill>
              </a:rPr>
              <a:t>l'Étude</a:t>
            </a:r>
            <a:r>
              <a:rPr dirty="0" sz="4850" spc="-170">
                <a:solidFill>
                  <a:srgbClr val="0C2D56"/>
                </a:solidFill>
              </a:rPr>
              <a:t> </a:t>
            </a:r>
            <a:r>
              <a:rPr dirty="0" sz="4850">
                <a:solidFill>
                  <a:srgbClr val="0E2D59"/>
                </a:solidFill>
              </a:rPr>
              <a:t>:</a:t>
            </a:r>
            <a:r>
              <a:rPr dirty="0" sz="4850" spc="-155">
                <a:solidFill>
                  <a:srgbClr val="0E2D59"/>
                </a:solidFill>
              </a:rPr>
              <a:t> </a:t>
            </a:r>
            <a:r>
              <a:rPr dirty="0" sz="4850" spc="-105">
                <a:solidFill>
                  <a:srgbClr val="0F2D56"/>
                </a:solidFill>
              </a:rPr>
              <a:t>De</a:t>
            </a:r>
            <a:r>
              <a:rPr dirty="0" sz="4850" spc="-210">
                <a:solidFill>
                  <a:srgbClr val="0F2D56"/>
                </a:solidFill>
              </a:rPr>
              <a:t> </a:t>
            </a:r>
            <a:r>
              <a:rPr dirty="0" sz="4850">
                <a:solidFill>
                  <a:srgbClr val="0E2A52"/>
                </a:solidFill>
              </a:rPr>
              <a:t>l'Évaluation</a:t>
            </a:r>
            <a:r>
              <a:rPr dirty="0" sz="4850" spc="125">
                <a:solidFill>
                  <a:srgbClr val="0E2A52"/>
                </a:solidFill>
              </a:rPr>
              <a:t> </a:t>
            </a:r>
            <a:r>
              <a:rPr dirty="0" sz="4850" spc="-90">
                <a:solidFill>
                  <a:srgbClr val="132F5B"/>
                </a:solidFill>
              </a:rPr>
              <a:t>à</a:t>
            </a:r>
            <a:r>
              <a:rPr dirty="0" sz="4850" spc="-204">
                <a:solidFill>
                  <a:srgbClr val="132F5B"/>
                </a:solidFill>
              </a:rPr>
              <a:t> </a:t>
            </a:r>
            <a:r>
              <a:rPr dirty="0" sz="4850" spc="80">
                <a:solidFill>
                  <a:srgbClr val="0A284D"/>
                </a:solidFill>
              </a:rPr>
              <a:t>l'Action</a:t>
            </a:r>
            <a:endParaRPr sz="4850"/>
          </a:p>
        </p:txBody>
      </p:sp>
      <p:sp>
        <p:nvSpPr>
          <p:cNvPr id="4" name="object 4" descr=""/>
          <p:cNvSpPr txBox="1"/>
          <p:nvPr/>
        </p:nvSpPr>
        <p:spPr>
          <a:xfrm>
            <a:off x="2858146" y="6406091"/>
            <a:ext cx="2233295" cy="15132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>
                <a:solidFill>
                  <a:srgbClr val="052349"/>
                </a:solidFill>
                <a:latin typeface="Arial MT"/>
                <a:cs typeface="Arial MT"/>
              </a:rPr>
              <a:t>1.</a:t>
            </a:r>
            <a:r>
              <a:rPr dirty="0" sz="2700" spc="-355">
                <a:solidFill>
                  <a:srgbClr val="052349"/>
                </a:solidFill>
                <a:latin typeface="Arial MT"/>
                <a:cs typeface="Arial MT"/>
              </a:rPr>
              <a:t> </a:t>
            </a:r>
            <a:r>
              <a:rPr dirty="0" sz="2700" spc="-110">
                <a:solidFill>
                  <a:srgbClr val="031836"/>
                </a:solidFill>
                <a:latin typeface="Arial MT"/>
                <a:cs typeface="Arial MT"/>
              </a:rPr>
              <a:t>COMPARER</a:t>
            </a:r>
            <a:endParaRPr sz="2700">
              <a:latin typeface="Arial MT"/>
              <a:cs typeface="Arial MT"/>
            </a:endParaRPr>
          </a:p>
          <a:p>
            <a:pPr algn="ctr" marL="28575" marR="5080" indent="7620">
              <a:lnSpc>
                <a:spcPts val="2300"/>
              </a:lnSpc>
              <a:spcBef>
                <a:spcPts val="1620"/>
              </a:spcBef>
            </a:pPr>
            <a:r>
              <a:rPr dirty="0" sz="2000" spc="-65">
                <a:solidFill>
                  <a:srgbClr val="1D1D1D"/>
                </a:solidFill>
                <a:latin typeface="Arial MT"/>
                <a:cs typeface="Arial MT"/>
              </a:rPr>
              <a:t>Analyser</a:t>
            </a:r>
            <a:r>
              <a:rPr dirty="0" sz="2000" spc="1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000" spc="-75">
                <a:solidFill>
                  <a:srgbClr val="232323"/>
                </a:solidFill>
                <a:latin typeface="Arial MT"/>
                <a:cs typeface="Arial MT"/>
              </a:rPr>
              <a:t>les</a:t>
            </a:r>
            <a:r>
              <a:rPr dirty="0" sz="2000" spc="-6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D2D2D"/>
                </a:solidFill>
                <a:latin typeface="Arial MT"/>
                <a:cs typeface="Arial MT"/>
              </a:rPr>
              <a:t>doses </a:t>
            </a:r>
            <a:r>
              <a:rPr dirty="0" sz="2000" spc="-35">
                <a:solidFill>
                  <a:srgbClr val="131313"/>
                </a:solidFill>
                <a:latin typeface="Arial MT"/>
                <a:cs typeface="Arial MT"/>
              </a:rPr>
              <a:t>délivrëes</a:t>
            </a:r>
            <a:r>
              <a:rPr dirty="0" sz="2000" spc="-5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1C1C1C"/>
                </a:solidFill>
                <a:latin typeface="Arial MT"/>
                <a:cs typeface="Arial MT"/>
              </a:rPr>
              <a:t>vs</a:t>
            </a:r>
            <a:r>
              <a:rPr dirty="0" sz="2000" spc="-9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000" spc="-65">
                <a:solidFill>
                  <a:srgbClr val="2F2F2F"/>
                </a:solidFill>
                <a:latin typeface="Arial MT"/>
                <a:cs typeface="Arial MT"/>
              </a:rPr>
              <a:t>les</a:t>
            </a:r>
            <a:r>
              <a:rPr dirty="0" sz="2000" spc="-7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2000" spc="-190">
                <a:solidFill>
                  <a:srgbClr val="262626"/>
                </a:solidFill>
                <a:latin typeface="Arial MT"/>
                <a:cs typeface="Arial MT"/>
              </a:rPr>
              <a:t>HRD </a:t>
            </a:r>
            <a:r>
              <a:rPr dirty="0" sz="2000" spc="-20">
                <a:solidFill>
                  <a:srgbClr val="899AA7"/>
                </a:solidFill>
                <a:latin typeface="Arial MT"/>
                <a:cs typeface="Arial MT"/>
              </a:rPr>
              <a:t>en</a:t>
            </a:r>
            <a:r>
              <a:rPr dirty="0" sz="2000" spc="-114">
                <a:solidFill>
                  <a:srgbClr val="899AA7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C1C1C"/>
                </a:solidFill>
                <a:latin typeface="Arial MT"/>
                <a:cs typeface="Arial MT"/>
              </a:rPr>
              <a:t>vigueur.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98520" y="6397272"/>
            <a:ext cx="2258060" cy="15220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solidFill>
                  <a:srgbClr val="011636"/>
                </a:solidFill>
                <a:latin typeface="Calibri"/>
                <a:cs typeface="Calibri"/>
              </a:rPr>
              <a:t>2.</a:t>
            </a:r>
            <a:r>
              <a:rPr dirty="0" sz="2750" spc="180">
                <a:solidFill>
                  <a:srgbClr val="011636"/>
                </a:solidFill>
                <a:latin typeface="Calibri"/>
                <a:cs typeface="Calibri"/>
              </a:rPr>
              <a:t> </a:t>
            </a:r>
            <a:r>
              <a:rPr dirty="0" sz="2750" spc="155">
                <a:solidFill>
                  <a:srgbClr val="011C36"/>
                </a:solidFill>
                <a:latin typeface="Calibri"/>
                <a:cs typeface="Calibri"/>
              </a:rPr>
              <a:t>IDENTIFIER</a:t>
            </a:r>
            <a:endParaRPr sz="2750">
              <a:latin typeface="Calibri"/>
              <a:cs typeface="Calibri"/>
            </a:endParaRPr>
          </a:p>
          <a:p>
            <a:pPr algn="ctr" marL="12065" marR="5080">
              <a:lnSpc>
                <a:spcPts val="2300"/>
              </a:lnSpc>
              <a:spcBef>
                <a:spcPts val="1610"/>
              </a:spcBef>
            </a:pPr>
            <a:r>
              <a:rPr dirty="0" sz="2000">
                <a:solidFill>
                  <a:srgbClr val="000F1F"/>
                </a:solidFill>
                <a:latin typeface="Calibri"/>
                <a:cs typeface="Calibri"/>
              </a:rPr>
              <a:t>Isoler</a:t>
            </a:r>
            <a:r>
              <a:rPr dirty="0" sz="2000" spc="100">
                <a:solidFill>
                  <a:srgbClr val="000F1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82828"/>
                </a:solidFill>
                <a:latin typeface="Calibri"/>
                <a:cs typeface="Calibri"/>
              </a:rPr>
              <a:t>les</a:t>
            </a:r>
            <a:r>
              <a:rPr dirty="0" sz="2000" spc="20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A2A2A"/>
                </a:solidFill>
                <a:latin typeface="Calibri"/>
                <a:cs typeface="Calibri"/>
              </a:rPr>
              <a:t>paramètres </a:t>
            </a:r>
            <a:r>
              <a:rPr dirty="0" sz="2000" spc="-10">
                <a:solidFill>
                  <a:srgbClr val="242424"/>
                </a:solidFill>
                <a:latin typeface="Arial MT"/>
                <a:cs typeface="Arial MT"/>
              </a:rPr>
              <a:t>techniques </a:t>
            </a:r>
            <a:r>
              <a:rPr dirty="0" sz="2000" spc="-45">
                <a:solidFill>
                  <a:srgbClr val="1F1F1F"/>
                </a:solidFill>
                <a:latin typeface="Arial MT"/>
                <a:cs typeface="Arial MT"/>
              </a:rPr>
              <a:t>influençant</a:t>
            </a:r>
            <a:r>
              <a:rPr dirty="0" sz="2000" spc="-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000" spc="-35">
                <a:solidFill>
                  <a:srgbClr val="000A1A"/>
                </a:solidFill>
                <a:latin typeface="Arial MT"/>
                <a:cs typeface="Arial MT"/>
              </a:rPr>
              <a:t>la</a:t>
            </a:r>
            <a:r>
              <a:rPr dirty="0" sz="2000" spc="-100">
                <a:solidFill>
                  <a:srgbClr val="000A1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3B3B3B"/>
                </a:solidFill>
                <a:latin typeface="Arial MT"/>
                <a:cs typeface="Arial MT"/>
              </a:rPr>
              <a:t>dose.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340738" y="6161787"/>
            <a:ext cx="2256790" cy="2341245"/>
          </a:xfrm>
          <a:prstGeom prst="rect">
            <a:avLst/>
          </a:prstGeom>
        </p:spPr>
        <p:txBody>
          <a:bodyPr wrap="square" lIns="0" tIns="257810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2030"/>
              </a:spcBef>
            </a:pPr>
            <a:r>
              <a:rPr dirty="0" sz="2750">
                <a:solidFill>
                  <a:srgbClr val="0A233F"/>
                </a:solidFill>
                <a:latin typeface="Calibri"/>
                <a:cs typeface="Calibri"/>
              </a:rPr>
              <a:t>3.</a:t>
            </a:r>
            <a:r>
              <a:rPr dirty="0" sz="2750" spc="165">
                <a:solidFill>
                  <a:srgbClr val="0A233F"/>
                </a:solidFill>
                <a:latin typeface="Calibri"/>
                <a:cs typeface="Calibri"/>
              </a:rPr>
              <a:t> </a:t>
            </a:r>
            <a:r>
              <a:rPr dirty="0" sz="2750" spc="175">
                <a:solidFill>
                  <a:srgbClr val="0C2141"/>
                </a:solidFill>
                <a:latin typeface="Calibri"/>
                <a:cs typeface="Calibri"/>
              </a:rPr>
              <a:t>OPTIMISER</a:t>
            </a:r>
            <a:endParaRPr sz="2750">
              <a:latin typeface="Calibri"/>
              <a:cs typeface="Calibri"/>
            </a:endParaRPr>
          </a:p>
          <a:p>
            <a:pPr algn="ctr" marL="12700" marR="5080" indent="5080">
              <a:lnSpc>
                <a:spcPts val="2300"/>
              </a:lnSpc>
              <a:spcBef>
                <a:spcPts val="1560"/>
              </a:spcBef>
            </a:pPr>
            <a:r>
              <a:rPr dirty="0" sz="2000">
                <a:solidFill>
                  <a:srgbClr val="000513"/>
                </a:solidFill>
                <a:latin typeface="Arial MT"/>
                <a:cs typeface="Arial MT"/>
              </a:rPr>
              <a:t>Mettre</a:t>
            </a:r>
            <a:r>
              <a:rPr dirty="0" sz="2000" spc="-40">
                <a:solidFill>
                  <a:srgbClr val="000513"/>
                </a:solidFill>
                <a:latin typeface="Arial MT"/>
                <a:cs typeface="Arial MT"/>
              </a:rPr>
              <a:t> </a:t>
            </a:r>
            <a:r>
              <a:rPr dirty="0" sz="2000" spc="-100">
                <a:solidFill>
                  <a:srgbClr val="000A18"/>
                </a:solidFill>
                <a:latin typeface="Arial MT"/>
                <a:cs typeface="Arial MT"/>
              </a:rPr>
              <a:t>en</a:t>
            </a:r>
            <a:r>
              <a:rPr dirty="0" sz="2000" spc="-120">
                <a:solidFill>
                  <a:srgbClr val="000A18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C1C1C"/>
                </a:solidFill>
                <a:latin typeface="Arial MT"/>
                <a:cs typeface="Arial MT"/>
              </a:rPr>
              <a:t>évidence </a:t>
            </a:r>
            <a:r>
              <a:rPr dirty="0" sz="2000">
                <a:solidFill>
                  <a:srgbClr val="010E1C"/>
                </a:solidFill>
                <a:latin typeface="Arial MT"/>
                <a:cs typeface="Arial MT"/>
              </a:rPr>
              <a:t>les</a:t>
            </a:r>
            <a:r>
              <a:rPr dirty="0" sz="2000" spc="-114">
                <a:solidFill>
                  <a:srgbClr val="010E1C"/>
                </a:solidFill>
                <a:latin typeface="Arial MT"/>
                <a:cs typeface="Arial MT"/>
              </a:rPr>
              <a:t> </a:t>
            </a:r>
            <a:r>
              <a:rPr dirty="0" sz="2000" spc="-70">
                <a:solidFill>
                  <a:srgbClr val="1D1D1D"/>
                </a:solidFill>
                <a:latin typeface="Arial MT"/>
                <a:cs typeface="Arial MT"/>
              </a:rPr>
              <a:t>bonnes</a:t>
            </a:r>
            <a:r>
              <a:rPr dirty="0" sz="2000" spc="-6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000" spc="-45">
                <a:solidFill>
                  <a:srgbClr val="313131"/>
                </a:solidFill>
                <a:latin typeface="Arial MT"/>
                <a:cs typeface="Arial MT"/>
              </a:rPr>
              <a:t>pratiques </a:t>
            </a:r>
            <a:r>
              <a:rPr dirty="0" sz="2000" spc="-20">
                <a:solidFill>
                  <a:srgbClr val="050505"/>
                </a:solidFill>
                <a:latin typeface="Arial MT"/>
                <a:cs typeface="Arial MT"/>
              </a:rPr>
              <a:t>pour</a:t>
            </a:r>
            <a:r>
              <a:rPr dirty="0" sz="2000" spc="-5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000" spc="-60">
                <a:solidFill>
                  <a:srgbClr val="050505"/>
                </a:solidFill>
                <a:latin typeface="Arial MT"/>
                <a:cs typeface="Arial MT"/>
              </a:rPr>
              <a:t>réduire</a:t>
            </a:r>
            <a:r>
              <a:rPr dirty="0" sz="2000" spc="-7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000" spc="-35">
                <a:solidFill>
                  <a:srgbClr val="010C1C"/>
                </a:solidFill>
                <a:latin typeface="Arial MT"/>
                <a:cs typeface="Arial MT"/>
              </a:rPr>
              <a:t>la</a:t>
            </a:r>
            <a:r>
              <a:rPr dirty="0" sz="2000" spc="-105">
                <a:solidFill>
                  <a:srgbClr val="010C1C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181818"/>
                </a:solidFill>
                <a:latin typeface="Arial MT"/>
                <a:cs typeface="Arial MT"/>
              </a:rPr>
              <a:t>dose </a:t>
            </a:r>
            <a:r>
              <a:rPr dirty="0" sz="2000" spc="-75">
                <a:solidFill>
                  <a:srgbClr val="3B3B3B"/>
                </a:solidFill>
                <a:latin typeface="Arial MT"/>
                <a:cs typeface="Arial MT"/>
              </a:rPr>
              <a:t>sans</a:t>
            </a:r>
            <a:r>
              <a:rPr dirty="0" sz="2000" spc="-114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232323"/>
                </a:solidFill>
                <a:latin typeface="Arial MT"/>
                <a:cs typeface="Arial MT"/>
              </a:rPr>
              <a:t>sacrifier</a:t>
            </a:r>
            <a:r>
              <a:rPr dirty="0" sz="2000" spc="-9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000A18"/>
                </a:solidFill>
                <a:latin typeface="Arial MT"/>
                <a:cs typeface="Arial MT"/>
              </a:rPr>
              <a:t>la </a:t>
            </a:r>
            <a:r>
              <a:rPr dirty="0" sz="2000" spc="-50">
                <a:solidFill>
                  <a:srgbClr val="161616"/>
                </a:solidFill>
                <a:latin typeface="Arial MT"/>
                <a:cs typeface="Arial MT"/>
              </a:rPr>
              <a:t>qualité</a:t>
            </a:r>
            <a:r>
              <a:rPr dirty="0" sz="2000" spc="-3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000C1C"/>
                </a:solidFill>
                <a:latin typeface="Arial MT"/>
                <a:cs typeface="Arial MT"/>
              </a:rPr>
              <a:t>image.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677400" y="6540500"/>
            <a:ext cx="1790700" cy="2425700"/>
            <a:chOff x="9677400" y="6540500"/>
            <a:chExt cx="1790700" cy="24257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34600" y="6540500"/>
              <a:ext cx="1333500" cy="24257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7400" y="6883400"/>
              <a:ext cx="647700" cy="1752600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15494000" y="5067300"/>
            <a:ext cx="1282700" cy="3403600"/>
            <a:chOff x="15494000" y="5067300"/>
            <a:chExt cx="1282700" cy="34036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94000" y="5067300"/>
              <a:ext cx="1282700" cy="34036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36900" y="5422900"/>
              <a:ext cx="774700" cy="2273300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9931400" y="2819400"/>
            <a:ext cx="3619500" cy="4318000"/>
            <a:chOff x="9931400" y="2819400"/>
            <a:chExt cx="3619500" cy="4318000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31400" y="2819400"/>
              <a:ext cx="3619500" cy="33528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98100" y="2971800"/>
              <a:ext cx="1485900" cy="24257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61800" y="3213100"/>
              <a:ext cx="1638300" cy="17526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11000" y="4940300"/>
              <a:ext cx="736600" cy="7874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502900" y="3911600"/>
              <a:ext cx="939800" cy="7239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20300" y="6146800"/>
              <a:ext cx="2044700" cy="990600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045700" y="7480300"/>
            <a:ext cx="88900" cy="2540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001500" y="3556000"/>
            <a:ext cx="1981200" cy="9652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693900" y="3187700"/>
            <a:ext cx="762000" cy="5969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024100" y="3911600"/>
            <a:ext cx="304800" cy="444500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11176000" y="4876800"/>
            <a:ext cx="4051300" cy="1612900"/>
            <a:chOff x="11176000" y="4876800"/>
            <a:chExt cx="4051300" cy="1612900"/>
          </a:xfrm>
        </p:grpSpPr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700000" y="5562600"/>
              <a:ext cx="2527300" cy="9271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176000" y="4876800"/>
              <a:ext cx="3886200" cy="12446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11000" y="4940300"/>
              <a:ext cx="736600" cy="78740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528800" y="5384800"/>
              <a:ext cx="609600" cy="241300"/>
            </a:xfrm>
            <a:prstGeom prst="rect">
              <a:avLst/>
            </a:prstGeom>
          </p:spPr>
        </p:pic>
      </p:grpSp>
      <p:pic>
        <p:nvPicPr>
          <p:cNvPr id="24" name="object 2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328900" y="4572000"/>
            <a:ext cx="266700" cy="33020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214600" y="6819900"/>
            <a:ext cx="215900" cy="30480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903200" y="8026400"/>
            <a:ext cx="2019300" cy="723900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433300" y="4521200"/>
            <a:ext cx="1117600" cy="368300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468600" y="2819400"/>
            <a:ext cx="368300" cy="39370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893800" y="7594600"/>
            <a:ext cx="1943100" cy="381000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6758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135"/>
              </a:spcBef>
            </a:pPr>
            <a:r>
              <a:rPr dirty="0" sz="5100">
                <a:solidFill>
                  <a:srgbClr val="0A2A4D"/>
                </a:solidFill>
              </a:rPr>
              <a:t>Le</a:t>
            </a:r>
            <a:r>
              <a:rPr dirty="0" sz="5100" spc="-155">
                <a:solidFill>
                  <a:srgbClr val="0A2A4D"/>
                </a:solidFill>
              </a:rPr>
              <a:t> </a:t>
            </a:r>
            <a:r>
              <a:rPr dirty="0" sz="5100">
                <a:solidFill>
                  <a:srgbClr val="082649"/>
                </a:solidFill>
              </a:rPr>
              <a:t>Technicien</a:t>
            </a:r>
            <a:r>
              <a:rPr dirty="0" sz="5100" spc="250">
                <a:solidFill>
                  <a:srgbClr val="082649"/>
                </a:solidFill>
              </a:rPr>
              <a:t> </a:t>
            </a:r>
            <a:r>
              <a:rPr dirty="0" sz="5100" spc="-385" i="1">
                <a:solidFill>
                  <a:srgbClr val="0A2D54"/>
                </a:solidFill>
                <a:latin typeface="Arial"/>
                <a:cs typeface="Arial"/>
              </a:rPr>
              <a:t>:</a:t>
            </a:r>
            <a:r>
              <a:rPr dirty="0" sz="5100" spc="225" i="1">
                <a:solidFill>
                  <a:srgbClr val="0A2D54"/>
                </a:solidFill>
                <a:latin typeface="Arial"/>
                <a:cs typeface="Arial"/>
              </a:rPr>
              <a:t> </a:t>
            </a:r>
            <a:r>
              <a:rPr dirty="0" sz="5100" spc="70">
                <a:solidFill>
                  <a:srgbClr val="0A2D52"/>
                </a:solidFill>
              </a:rPr>
              <a:t>Acteur</a:t>
            </a:r>
            <a:r>
              <a:rPr dirty="0" sz="5100" spc="204">
                <a:solidFill>
                  <a:srgbClr val="0A2D52"/>
                </a:solidFill>
              </a:rPr>
              <a:t> </a:t>
            </a:r>
            <a:r>
              <a:rPr dirty="0" sz="5100" spc="65">
                <a:solidFill>
                  <a:srgbClr val="08284F"/>
                </a:solidFill>
              </a:rPr>
              <a:t>Central</a:t>
            </a:r>
            <a:r>
              <a:rPr dirty="0" sz="5100" spc="80">
                <a:solidFill>
                  <a:srgbClr val="08284F"/>
                </a:solidFill>
              </a:rPr>
              <a:t> </a:t>
            </a:r>
            <a:r>
              <a:rPr dirty="0" sz="5100" spc="80">
                <a:solidFill>
                  <a:srgbClr val="072D52"/>
                </a:solidFill>
              </a:rPr>
              <a:t>de</a:t>
            </a:r>
            <a:r>
              <a:rPr dirty="0" sz="5100" spc="-300">
                <a:solidFill>
                  <a:srgbClr val="072D52"/>
                </a:solidFill>
              </a:rPr>
              <a:t> </a:t>
            </a:r>
            <a:r>
              <a:rPr dirty="0" sz="5100">
                <a:solidFill>
                  <a:srgbClr val="082648"/>
                </a:solidFill>
              </a:rPr>
              <a:t>la</a:t>
            </a:r>
            <a:r>
              <a:rPr dirty="0" sz="5100" spc="-215">
                <a:solidFill>
                  <a:srgbClr val="082648"/>
                </a:solidFill>
              </a:rPr>
              <a:t> </a:t>
            </a:r>
            <a:r>
              <a:rPr dirty="0" sz="5100" spc="100">
                <a:solidFill>
                  <a:srgbClr val="082649"/>
                </a:solidFill>
              </a:rPr>
              <a:t>Radioprotection</a:t>
            </a:r>
            <a:endParaRPr sz="51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249554" algn="l"/>
              </a:tabLst>
            </a:pPr>
            <a:r>
              <a:rPr dirty="0" sz="1300" spc="-305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72416" y="2480027"/>
            <a:ext cx="8192770" cy="3932554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 marR="5080" indent="9525">
              <a:lnSpc>
                <a:spcPts val="3900"/>
              </a:lnSpc>
              <a:spcBef>
                <a:spcPts val="450"/>
              </a:spcBef>
            </a:pPr>
            <a:r>
              <a:rPr dirty="0" sz="3450" spc="-195">
                <a:latin typeface="Arial MT"/>
                <a:cs typeface="Arial MT"/>
              </a:rPr>
              <a:t>Le</a:t>
            </a:r>
            <a:r>
              <a:rPr dirty="0" sz="3450" spc="-50">
                <a:latin typeface="Arial MT"/>
                <a:cs typeface="Arial MT"/>
              </a:rPr>
              <a:t> </a:t>
            </a:r>
            <a:r>
              <a:rPr dirty="0" sz="3450" spc="-35">
                <a:latin typeface="Arial MT"/>
                <a:cs typeface="Arial MT"/>
              </a:rPr>
              <a:t>technicien</a:t>
            </a:r>
            <a:r>
              <a:rPr dirty="0" sz="3450" spc="-204">
                <a:latin typeface="Arial MT"/>
                <a:cs typeface="Arial MT"/>
              </a:rPr>
              <a:t> </a:t>
            </a:r>
            <a:r>
              <a:rPr dirty="0" sz="3450" spc="-20">
                <a:latin typeface="Arial MT"/>
                <a:cs typeface="Arial MT"/>
              </a:rPr>
              <a:t>n'est</a:t>
            </a:r>
            <a:r>
              <a:rPr dirty="0" sz="3450" spc="-220">
                <a:latin typeface="Arial MT"/>
                <a:cs typeface="Arial MT"/>
              </a:rPr>
              <a:t> </a:t>
            </a:r>
            <a:r>
              <a:rPr dirty="0" sz="3450" spc="-110">
                <a:latin typeface="Arial MT"/>
                <a:cs typeface="Arial MT"/>
              </a:rPr>
              <a:t>pas</a:t>
            </a:r>
            <a:r>
              <a:rPr dirty="0" sz="3450" spc="-130">
                <a:latin typeface="Arial MT"/>
                <a:cs typeface="Arial MT"/>
              </a:rPr>
              <a:t> </a:t>
            </a:r>
            <a:r>
              <a:rPr dirty="0" sz="3450">
                <a:latin typeface="Arial MT"/>
                <a:cs typeface="Arial MT"/>
              </a:rPr>
              <a:t>un</a:t>
            </a:r>
            <a:r>
              <a:rPr dirty="0" sz="3450" spc="-125">
                <a:latin typeface="Arial MT"/>
                <a:cs typeface="Arial MT"/>
              </a:rPr>
              <a:t> </a:t>
            </a:r>
            <a:r>
              <a:rPr dirty="0" sz="3450" spc="-80">
                <a:latin typeface="Arial MT"/>
                <a:cs typeface="Arial MT"/>
              </a:rPr>
              <a:t>simple</a:t>
            </a:r>
            <a:r>
              <a:rPr dirty="0" sz="3450" spc="-125">
                <a:latin typeface="Arial MT"/>
                <a:cs typeface="Arial MT"/>
              </a:rPr>
              <a:t> </a:t>
            </a:r>
            <a:r>
              <a:rPr dirty="0" sz="3450" spc="-70">
                <a:latin typeface="Arial MT"/>
                <a:cs typeface="Arial MT"/>
              </a:rPr>
              <a:t>opérateur, </a:t>
            </a:r>
            <a:r>
              <a:rPr dirty="0" sz="3450">
                <a:latin typeface="Arial MT"/>
                <a:cs typeface="Arial MT"/>
              </a:rPr>
              <a:t>il</a:t>
            </a:r>
            <a:r>
              <a:rPr dirty="0" sz="3450" spc="-245">
                <a:latin typeface="Arial MT"/>
                <a:cs typeface="Arial MT"/>
              </a:rPr>
              <a:t> </a:t>
            </a:r>
            <a:r>
              <a:rPr dirty="0" sz="3450">
                <a:latin typeface="Arial MT"/>
                <a:cs typeface="Arial MT"/>
              </a:rPr>
              <a:t>est</a:t>
            </a:r>
            <a:r>
              <a:rPr dirty="0" sz="3450" spc="-220">
                <a:latin typeface="Arial MT"/>
                <a:cs typeface="Arial MT"/>
              </a:rPr>
              <a:t> </a:t>
            </a:r>
            <a:r>
              <a:rPr dirty="0" sz="3450" spc="-20">
                <a:latin typeface="Arial MT"/>
                <a:cs typeface="Arial MT"/>
              </a:rPr>
              <a:t>le</a:t>
            </a:r>
            <a:r>
              <a:rPr dirty="0" sz="3450" spc="-215">
                <a:latin typeface="Arial MT"/>
                <a:cs typeface="Arial MT"/>
              </a:rPr>
              <a:t> </a:t>
            </a:r>
            <a:r>
              <a:rPr dirty="0" sz="3450" spc="-40">
                <a:latin typeface="Arial MT"/>
                <a:cs typeface="Arial MT"/>
              </a:rPr>
              <a:t>garant</a:t>
            </a:r>
            <a:r>
              <a:rPr dirty="0" sz="3450" spc="-30">
                <a:latin typeface="Arial MT"/>
                <a:cs typeface="Arial MT"/>
              </a:rPr>
              <a:t> </a:t>
            </a:r>
            <a:r>
              <a:rPr dirty="0" sz="3450" spc="-95">
                <a:latin typeface="Arial MT"/>
                <a:cs typeface="Arial MT"/>
              </a:rPr>
              <a:t>de</a:t>
            </a:r>
            <a:r>
              <a:rPr dirty="0" sz="3450" spc="-150">
                <a:latin typeface="Arial MT"/>
                <a:cs typeface="Arial MT"/>
              </a:rPr>
              <a:t> </a:t>
            </a:r>
            <a:r>
              <a:rPr dirty="0" sz="3450">
                <a:latin typeface="Arial MT"/>
                <a:cs typeface="Arial MT"/>
              </a:rPr>
              <a:t>la</a:t>
            </a:r>
            <a:r>
              <a:rPr dirty="0" sz="3450" spc="-45">
                <a:latin typeface="Arial MT"/>
                <a:cs typeface="Arial MT"/>
              </a:rPr>
              <a:t> </a:t>
            </a:r>
            <a:r>
              <a:rPr dirty="0" sz="3450" spc="-50">
                <a:latin typeface="Arial MT"/>
                <a:cs typeface="Arial MT"/>
              </a:rPr>
              <a:t>sécurité</a:t>
            </a:r>
            <a:r>
              <a:rPr dirty="0" sz="3450" spc="-135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patient.</a:t>
            </a:r>
            <a:endParaRPr sz="3450">
              <a:latin typeface="Arial MT"/>
              <a:cs typeface="Arial MT"/>
            </a:endParaRPr>
          </a:p>
          <a:p>
            <a:pPr marL="384810">
              <a:lnSpc>
                <a:spcPct val="100000"/>
              </a:lnSpc>
              <a:spcBef>
                <a:spcPts val="2670"/>
              </a:spcBef>
            </a:pPr>
            <a:r>
              <a:rPr dirty="0" sz="2900">
                <a:solidFill>
                  <a:srgbClr val="052349"/>
                </a:solidFill>
                <a:latin typeface="Arial MT"/>
                <a:cs typeface="Arial MT"/>
              </a:rPr>
              <a:t>Application</a:t>
            </a:r>
            <a:r>
              <a:rPr dirty="0" sz="2900" spc="340">
                <a:solidFill>
                  <a:srgbClr val="052349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82341"/>
                </a:solidFill>
                <a:latin typeface="Arial MT"/>
                <a:cs typeface="Arial MT"/>
              </a:rPr>
              <a:t>des</a:t>
            </a:r>
            <a:r>
              <a:rPr dirty="0" sz="2900" spc="125">
                <a:solidFill>
                  <a:srgbClr val="082341"/>
                </a:solidFill>
                <a:latin typeface="Arial MT"/>
                <a:cs typeface="Arial MT"/>
              </a:rPr>
              <a:t> </a:t>
            </a:r>
            <a:r>
              <a:rPr dirty="0" sz="2900" spc="40">
                <a:solidFill>
                  <a:srgbClr val="011F3D"/>
                </a:solidFill>
                <a:latin typeface="Arial MT"/>
                <a:cs typeface="Arial MT"/>
              </a:rPr>
              <a:t>protocoles</a:t>
            </a:r>
            <a:endParaRPr sz="2900">
              <a:latin typeface="Arial MT"/>
              <a:cs typeface="Arial MT"/>
            </a:endParaRPr>
          </a:p>
          <a:p>
            <a:pPr marL="380365">
              <a:lnSpc>
                <a:spcPct val="100000"/>
              </a:lnSpc>
              <a:spcBef>
                <a:spcPts val="220"/>
              </a:spcBef>
            </a:pPr>
            <a:r>
              <a:rPr dirty="0" sz="2700" spc="-110">
                <a:latin typeface="Arial MT"/>
                <a:cs typeface="Arial MT"/>
              </a:rPr>
              <a:t>Choix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 spc="-55">
                <a:latin typeface="Arial MT"/>
                <a:cs typeface="Arial MT"/>
              </a:rPr>
              <a:t>rigoureux</a:t>
            </a:r>
            <a:r>
              <a:rPr dirty="0" sz="2700" spc="-90">
                <a:latin typeface="Arial MT"/>
                <a:cs typeface="Arial MT"/>
              </a:rPr>
              <a:t> </a:t>
            </a:r>
            <a:r>
              <a:rPr dirty="0" sz="2700" spc="-70">
                <a:latin typeface="Arial MT"/>
                <a:cs typeface="Arial MT"/>
              </a:rPr>
              <a:t>des</a:t>
            </a:r>
            <a:r>
              <a:rPr dirty="0" sz="2700" spc="-114">
                <a:latin typeface="Arial MT"/>
                <a:cs typeface="Arial MT"/>
              </a:rPr>
              <a:t> </a:t>
            </a:r>
            <a:r>
              <a:rPr dirty="0" sz="2700" spc="-85">
                <a:latin typeface="Arial MT"/>
                <a:cs typeface="Arial MT"/>
              </a:rPr>
              <a:t>séquences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et</a:t>
            </a:r>
            <a:r>
              <a:rPr dirty="0" sz="2700" spc="-12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couverture.</a:t>
            </a:r>
            <a:endParaRPr sz="2700">
              <a:latin typeface="Arial MT"/>
              <a:cs typeface="Arial MT"/>
            </a:endParaRPr>
          </a:p>
          <a:p>
            <a:pPr marL="368935">
              <a:lnSpc>
                <a:spcPct val="100000"/>
              </a:lnSpc>
              <a:spcBef>
                <a:spcPts val="3010"/>
              </a:spcBef>
            </a:pPr>
            <a:r>
              <a:rPr dirty="0" sz="2850">
                <a:solidFill>
                  <a:srgbClr val="1670A3"/>
                </a:solidFill>
                <a:latin typeface="Arial MT"/>
                <a:cs typeface="Arial MT"/>
              </a:rPr>
              <a:t>Réglage</a:t>
            </a:r>
            <a:r>
              <a:rPr dirty="0" sz="2850" spc="-165">
                <a:solidFill>
                  <a:srgbClr val="1670A3"/>
                </a:solidFill>
                <a:latin typeface="Arial MT"/>
                <a:cs typeface="Arial MT"/>
              </a:rPr>
              <a:t> </a:t>
            </a:r>
            <a:r>
              <a:rPr dirty="0" sz="2850" spc="50">
                <a:solidFill>
                  <a:srgbClr val="1C77A8"/>
                </a:solidFill>
                <a:latin typeface="Arial MT"/>
                <a:cs typeface="Arial MT"/>
              </a:rPr>
              <a:t>technique</a:t>
            </a:r>
            <a:endParaRPr sz="2850">
              <a:latin typeface="Arial MT"/>
              <a:cs typeface="Arial MT"/>
            </a:endParaRPr>
          </a:p>
          <a:p>
            <a:pPr marL="374650" marR="1203325" indent="10160">
              <a:lnSpc>
                <a:spcPts val="3000"/>
              </a:lnSpc>
              <a:spcBef>
                <a:spcPts val="630"/>
              </a:spcBef>
            </a:pPr>
            <a:r>
              <a:rPr dirty="0" sz="2700" spc="-85">
                <a:latin typeface="Arial MT"/>
                <a:cs typeface="Arial MT"/>
              </a:rPr>
              <a:t>Ajustement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 spc="-60">
                <a:latin typeface="Arial MT"/>
                <a:cs typeface="Arial MT"/>
              </a:rPr>
              <a:t>des</a:t>
            </a:r>
            <a:r>
              <a:rPr dirty="0" sz="2700" spc="-130">
                <a:latin typeface="Arial MT"/>
                <a:cs typeface="Arial MT"/>
              </a:rPr>
              <a:t> </a:t>
            </a:r>
            <a:r>
              <a:rPr dirty="0" sz="2700" spc="-70">
                <a:latin typeface="Arial MT"/>
                <a:cs typeface="Arial MT"/>
              </a:rPr>
              <a:t>paramètres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 spc="-170">
                <a:latin typeface="Arial MT"/>
                <a:cs typeface="Arial MT"/>
              </a:rPr>
              <a:t>(kV,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135">
                <a:latin typeface="Arial MT"/>
                <a:cs typeface="Arial MT"/>
              </a:rPr>
              <a:t>mAs)</a:t>
            </a:r>
            <a:r>
              <a:rPr dirty="0" sz="2700" spc="50">
                <a:latin typeface="Arial MT"/>
                <a:cs typeface="Arial MT"/>
              </a:rPr>
              <a:t> </a:t>
            </a:r>
            <a:r>
              <a:rPr dirty="0" sz="2700" spc="-90">
                <a:latin typeface="Arial MT"/>
                <a:cs typeface="Arial MT"/>
              </a:rPr>
              <a:t>selon</a:t>
            </a:r>
            <a:r>
              <a:rPr dirty="0" sz="2700" spc="-95">
                <a:latin typeface="Arial MT"/>
                <a:cs typeface="Arial MT"/>
              </a:rPr>
              <a:t> </a:t>
            </a:r>
            <a:r>
              <a:rPr dirty="0" sz="2700" spc="-55">
                <a:latin typeface="Arial MT"/>
                <a:cs typeface="Arial MT"/>
              </a:rPr>
              <a:t>la </a:t>
            </a:r>
            <a:r>
              <a:rPr dirty="0" sz="2700" spc="-75">
                <a:latin typeface="Arial MT"/>
                <a:cs typeface="Arial MT"/>
              </a:rPr>
              <a:t>morphologie</a:t>
            </a:r>
            <a:r>
              <a:rPr dirty="0" sz="2700" spc="15">
                <a:latin typeface="Arial MT"/>
                <a:cs typeface="Arial MT"/>
              </a:rPr>
              <a:t> </a:t>
            </a:r>
            <a:r>
              <a:rPr dirty="0" sz="2700" spc="-75">
                <a:latin typeface="Arial MT"/>
                <a:cs typeface="Arial MT"/>
              </a:rPr>
              <a:t>du</a:t>
            </a:r>
            <a:r>
              <a:rPr dirty="0" sz="2700" spc="-11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patient.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228181" y="6773333"/>
            <a:ext cx="6269990" cy="12941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465"/>
              </a:lnSpc>
              <a:spcBef>
                <a:spcPts val="114"/>
              </a:spcBef>
            </a:pPr>
            <a:r>
              <a:rPr dirty="0" sz="2900">
                <a:solidFill>
                  <a:srgbClr val="082648"/>
                </a:solidFill>
                <a:latin typeface="Arial MT"/>
                <a:cs typeface="Arial MT"/>
              </a:rPr>
              <a:t>Respect</a:t>
            </a:r>
            <a:r>
              <a:rPr dirty="0" sz="2900" spc="5">
                <a:solidFill>
                  <a:srgbClr val="082648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071F3D"/>
                </a:solidFill>
                <a:latin typeface="Arial MT"/>
                <a:cs typeface="Arial MT"/>
              </a:rPr>
              <a:t>d’ALARA</a:t>
            </a:r>
            <a:endParaRPr sz="2900">
              <a:latin typeface="Arial MT"/>
              <a:cs typeface="Arial MT"/>
            </a:endParaRPr>
          </a:p>
          <a:p>
            <a:pPr marL="13335">
              <a:lnSpc>
                <a:spcPts val="3304"/>
              </a:lnSpc>
            </a:pPr>
            <a:r>
              <a:rPr dirty="0" sz="2950" spc="-204">
                <a:latin typeface="Arial MT"/>
                <a:cs typeface="Arial MT"/>
              </a:rPr>
              <a:t>Minimiser</a:t>
            </a:r>
            <a:r>
              <a:rPr dirty="0" sz="2950">
                <a:latin typeface="Arial MT"/>
                <a:cs typeface="Arial MT"/>
              </a:rPr>
              <a:t> </a:t>
            </a:r>
            <a:r>
              <a:rPr dirty="0" sz="2950" spc="-155">
                <a:latin typeface="Arial MT"/>
                <a:cs typeface="Arial MT"/>
              </a:rPr>
              <a:t>l'exposition</a:t>
            </a:r>
            <a:r>
              <a:rPr dirty="0" sz="2950" spc="15">
                <a:latin typeface="Arial MT"/>
                <a:cs typeface="Arial MT"/>
              </a:rPr>
              <a:t> </a:t>
            </a:r>
            <a:r>
              <a:rPr dirty="0" sz="2950" spc="-160">
                <a:latin typeface="Arial MT"/>
                <a:cs typeface="Arial MT"/>
              </a:rPr>
              <a:t>tout</a:t>
            </a:r>
            <a:r>
              <a:rPr dirty="0" sz="2950" spc="-55">
                <a:latin typeface="Arial MT"/>
                <a:cs typeface="Arial MT"/>
              </a:rPr>
              <a:t> </a:t>
            </a:r>
            <a:r>
              <a:rPr dirty="0" sz="2950" spc="-254">
                <a:latin typeface="Arial MT"/>
                <a:cs typeface="Arial MT"/>
              </a:rPr>
              <a:t>en</a:t>
            </a:r>
            <a:r>
              <a:rPr dirty="0" sz="2950" spc="-100">
                <a:latin typeface="Arial MT"/>
                <a:cs typeface="Arial MT"/>
              </a:rPr>
              <a:t> </a:t>
            </a:r>
            <a:r>
              <a:rPr dirty="0" sz="2950" spc="-210">
                <a:latin typeface="Arial MT"/>
                <a:cs typeface="Arial MT"/>
              </a:rPr>
              <a:t>maintenant</a:t>
            </a:r>
            <a:r>
              <a:rPr dirty="0" sz="2950" spc="140">
                <a:latin typeface="Arial MT"/>
                <a:cs typeface="Arial MT"/>
              </a:rPr>
              <a:t> </a:t>
            </a:r>
            <a:r>
              <a:rPr dirty="0" sz="2950" spc="-65">
                <a:latin typeface="Arial MT"/>
                <a:cs typeface="Arial MT"/>
              </a:rPr>
              <a:t>le</a:t>
            </a:r>
            <a:endParaRPr sz="2950">
              <a:latin typeface="Arial MT"/>
              <a:cs typeface="Arial MT"/>
            </a:endParaRPr>
          </a:p>
          <a:p>
            <a:pPr marL="29209">
              <a:lnSpc>
                <a:spcPts val="3200"/>
              </a:lnSpc>
            </a:pPr>
            <a:r>
              <a:rPr dirty="0" sz="2850" spc="-65">
                <a:latin typeface="Arial MT"/>
                <a:cs typeface="Arial MT"/>
              </a:rPr>
              <a:t>diagnostic.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91789" y="8536869"/>
            <a:ext cx="811212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solidFill>
                  <a:srgbClr val="666666"/>
                </a:solidFill>
                <a:latin typeface="Arial MT"/>
                <a:cs typeface="Arial MT"/>
              </a:rPr>
              <a:t>Le</a:t>
            </a:r>
            <a:r>
              <a:rPr dirty="0" sz="2400" spc="2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676767"/>
                </a:solidFill>
                <a:latin typeface="Arial MT"/>
                <a:cs typeface="Arial MT"/>
              </a:rPr>
              <a:t>technicien</a:t>
            </a:r>
            <a:r>
              <a:rPr dirty="0" sz="2400" spc="33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696969"/>
                </a:solidFill>
                <a:latin typeface="Arial MT"/>
                <a:cs typeface="Arial MT"/>
              </a:rPr>
              <a:t>est</a:t>
            </a:r>
            <a:r>
              <a:rPr dirty="0" sz="2400" spc="254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646464"/>
                </a:solidFill>
                <a:latin typeface="Arial MT"/>
                <a:cs typeface="Arial MT"/>
              </a:rPr>
              <a:t>la</a:t>
            </a:r>
            <a:r>
              <a:rPr dirty="0" sz="2400" spc="28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2400" spc="-30">
                <a:solidFill>
                  <a:srgbClr val="676767"/>
                </a:solidFill>
                <a:latin typeface="Arial MT"/>
                <a:cs typeface="Arial MT"/>
              </a:rPr>
              <a:t>varia</a:t>
            </a:r>
            <a:r>
              <a:rPr dirty="0" sz="2400" spc="-32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2400" spc="-55">
                <a:solidFill>
                  <a:srgbClr val="646464"/>
                </a:solidFill>
                <a:latin typeface="Arial MT"/>
                <a:cs typeface="Arial MT"/>
              </a:rPr>
              <a:t>Dle</a:t>
            </a:r>
            <a:r>
              <a:rPr dirty="0" sz="2400" spc="30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606060"/>
                </a:solidFill>
                <a:latin typeface="Arial MT"/>
                <a:cs typeface="Arial MT"/>
              </a:rPr>
              <a:t>numaine</a:t>
            </a:r>
            <a:r>
              <a:rPr dirty="0" sz="2400" spc="30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696969"/>
                </a:solidFill>
                <a:latin typeface="Arial MT"/>
                <a:cs typeface="Arial MT"/>
              </a:rPr>
              <a:t>clé</a:t>
            </a:r>
            <a:r>
              <a:rPr dirty="0" sz="2400" spc="12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676767"/>
                </a:solidFill>
                <a:latin typeface="Arial MT"/>
                <a:cs typeface="Arial MT"/>
              </a:rPr>
              <a:t>de</a:t>
            </a:r>
            <a:r>
              <a:rPr dirty="0" sz="2400" spc="21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2400" spc="85">
                <a:solidFill>
                  <a:srgbClr val="676767"/>
                </a:solidFill>
                <a:latin typeface="Arial MT"/>
                <a:cs typeface="Arial MT"/>
              </a:rPr>
              <a:t>cette</a:t>
            </a:r>
            <a:r>
              <a:rPr dirty="0" sz="2400" spc="16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2400" spc="50">
                <a:solidFill>
                  <a:srgbClr val="676767"/>
                </a:solidFill>
                <a:latin typeface="Arial MT"/>
                <a:cs typeface="Arial MT"/>
              </a:rPr>
              <a:t>étude.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3493977" y="7094360"/>
            <a:ext cx="21971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40">
                <a:solidFill>
                  <a:srgbClr val="7C8E9C"/>
                </a:solidFill>
                <a:latin typeface="Arial MT"/>
                <a:cs typeface="Arial MT"/>
              </a:rPr>
              <a:t>””””-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4243798" y="7094360"/>
            <a:ext cx="19812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40">
                <a:solidFill>
                  <a:srgbClr val="7E8C9C"/>
                </a:solidFill>
                <a:latin typeface="Arial MT"/>
                <a:cs typeface="Arial MT"/>
              </a:rPr>
              <a:t>--</a:t>
            </a:r>
            <a:r>
              <a:rPr dirty="0" sz="1350" spc="-114">
                <a:solidFill>
                  <a:srgbClr val="7E8C9C"/>
                </a:solidFill>
                <a:latin typeface="Arial MT"/>
                <a:cs typeface="Arial MT"/>
              </a:rPr>
              <a:t>“°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6460190" y="7094360"/>
            <a:ext cx="61594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140">
                <a:solidFill>
                  <a:srgbClr val="808C95"/>
                </a:solidFill>
                <a:latin typeface="Arial MT"/>
                <a:cs typeface="Arial MT"/>
              </a:rPr>
              <a:t>i’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1388149" y="7373760"/>
            <a:ext cx="6223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50">
                <a:solidFill>
                  <a:srgbClr val="77899E"/>
                </a:solidFill>
                <a:latin typeface="Arial MT"/>
                <a:cs typeface="Arial MT"/>
              </a:rPr>
              <a:t>I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104960" y="7373760"/>
            <a:ext cx="69215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55">
                <a:solidFill>
                  <a:srgbClr val="C4C4C4"/>
                </a:solidFill>
                <a:latin typeface="Arial MT"/>
                <a:cs typeface="Arial MT"/>
              </a:rPr>
              <a:t>”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" y="5930900"/>
            <a:ext cx="152400" cy="276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2400" y="6400800"/>
            <a:ext cx="1828800" cy="18415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90600" y="5778500"/>
            <a:ext cx="9918700" cy="2946400"/>
            <a:chOff x="990600" y="5778500"/>
            <a:chExt cx="9918700" cy="294640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9900" y="5930900"/>
              <a:ext cx="165100" cy="27940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0400" y="5930900"/>
              <a:ext cx="88900" cy="27813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0600" y="5778500"/>
              <a:ext cx="9804400" cy="127000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5200" y="2451100"/>
            <a:ext cx="165100" cy="2743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4000" y="2895600"/>
            <a:ext cx="1701800" cy="1866900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990600" y="2311400"/>
            <a:ext cx="9918700" cy="2921000"/>
            <a:chOff x="990600" y="2311400"/>
            <a:chExt cx="9918700" cy="2921000"/>
          </a:xfrm>
        </p:grpSpPr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17200" y="2451100"/>
              <a:ext cx="177800" cy="27813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20400" y="2451100"/>
              <a:ext cx="88900" cy="27686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0600" y="2311400"/>
              <a:ext cx="9804400" cy="114300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233400" y="2959100"/>
            <a:ext cx="1409700" cy="1955800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11328400" y="2357967"/>
            <a:ext cx="93345" cy="6430645"/>
            <a:chOff x="11328400" y="2357967"/>
            <a:chExt cx="93345" cy="6430645"/>
          </a:xfrm>
        </p:grpSpPr>
        <p:sp>
          <p:nvSpPr>
            <p:cNvPr id="16" name="object 16" descr=""/>
            <p:cNvSpPr/>
            <p:nvPr/>
          </p:nvSpPr>
          <p:spPr>
            <a:xfrm>
              <a:off x="11330516" y="2446867"/>
              <a:ext cx="0" cy="6189345"/>
            </a:xfrm>
            <a:custGeom>
              <a:avLst/>
              <a:gdLst/>
              <a:ahLst/>
              <a:cxnLst/>
              <a:rect l="l" t="t" r="r" b="b"/>
              <a:pathLst>
                <a:path w="0" h="6189345">
                  <a:moveTo>
                    <a:pt x="0" y="6189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368616" y="2421467"/>
              <a:ext cx="0" cy="6265545"/>
            </a:xfrm>
            <a:custGeom>
              <a:avLst/>
              <a:gdLst/>
              <a:ahLst/>
              <a:cxnLst/>
              <a:rect l="l" t="t" r="r" b="b"/>
              <a:pathLst>
                <a:path w="0" h="6265545">
                  <a:moveTo>
                    <a:pt x="0" y="6265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394016" y="2396067"/>
              <a:ext cx="0" cy="6316345"/>
            </a:xfrm>
            <a:custGeom>
              <a:avLst/>
              <a:gdLst/>
              <a:ahLst/>
              <a:cxnLst/>
              <a:rect l="l" t="t" r="r" b="b"/>
              <a:pathLst>
                <a:path w="0" h="6316345">
                  <a:moveTo>
                    <a:pt x="0" y="6316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419416" y="2357967"/>
              <a:ext cx="0" cy="6430645"/>
            </a:xfrm>
            <a:custGeom>
              <a:avLst/>
              <a:gdLst/>
              <a:ahLst/>
              <a:cxnLst/>
              <a:rect l="l" t="t" r="r" b="b"/>
              <a:pathLst>
                <a:path w="0" h="6430645">
                  <a:moveTo>
                    <a:pt x="0" y="6430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16446500" y="2332567"/>
            <a:ext cx="131445" cy="6468745"/>
            <a:chOff x="16446500" y="2332567"/>
            <a:chExt cx="131445" cy="6468745"/>
          </a:xfrm>
        </p:grpSpPr>
        <p:sp>
          <p:nvSpPr>
            <p:cNvPr id="21" name="object 21" descr=""/>
            <p:cNvSpPr/>
            <p:nvPr/>
          </p:nvSpPr>
          <p:spPr>
            <a:xfrm>
              <a:off x="16448616" y="2332567"/>
              <a:ext cx="0" cy="6468745"/>
            </a:xfrm>
            <a:custGeom>
              <a:avLst/>
              <a:gdLst/>
              <a:ahLst/>
              <a:cxnLst/>
              <a:rect l="l" t="t" r="r" b="b"/>
              <a:pathLst>
                <a:path w="0" h="6468745">
                  <a:moveTo>
                    <a:pt x="0" y="6468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474016" y="2383367"/>
              <a:ext cx="0" cy="6367145"/>
            </a:xfrm>
            <a:custGeom>
              <a:avLst/>
              <a:gdLst/>
              <a:ahLst/>
              <a:cxnLst/>
              <a:rect l="l" t="t" r="r" b="b"/>
              <a:pathLst>
                <a:path w="0" h="6367145">
                  <a:moveTo>
                    <a:pt x="0" y="6366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499416" y="2396067"/>
              <a:ext cx="0" cy="6341745"/>
            </a:xfrm>
            <a:custGeom>
              <a:avLst/>
              <a:gdLst/>
              <a:ahLst/>
              <a:cxnLst/>
              <a:rect l="l" t="t" r="r" b="b"/>
              <a:pathLst>
                <a:path w="0" h="6341745">
                  <a:moveTo>
                    <a:pt x="0" y="6341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6524816" y="2434167"/>
              <a:ext cx="0" cy="6265545"/>
            </a:xfrm>
            <a:custGeom>
              <a:avLst/>
              <a:gdLst/>
              <a:ahLst/>
              <a:cxnLst/>
              <a:rect l="l" t="t" r="r" b="b"/>
              <a:pathLst>
                <a:path w="0" h="6265545">
                  <a:moveTo>
                    <a:pt x="0" y="6265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6550216" y="2472267"/>
              <a:ext cx="0" cy="6189345"/>
            </a:xfrm>
            <a:custGeom>
              <a:avLst/>
              <a:gdLst/>
              <a:ahLst/>
              <a:cxnLst/>
              <a:rect l="l" t="t" r="r" b="b"/>
              <a:pathLst>
                <a:path w="0" h="6189345">
                  <a:moveTo>
                    <a:pt x="0" y="6189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6575616" y="2535767"/>
              <a:ext cx="0" cy="6075045"/>
            </a:xfrm>
            <a:custGeom>
              <a:avLst/>
              <a:gdLst/>
              <a:ahLst/>
              <a:cxnLst/>
              <a:rect l="l" t="t" r="r" b="b"/>
              <a:pathLst>
                <a:path w="0" h="6075045">
                  <a:moveTo>
                    <a:pt x="0" y="6074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13311716" y="3577166"/>
            <a:ext cx="0" cy="639445"/>
          </a:xfrm>
          <a:custGeom>
            <a:avLst/>
            <a:gdLst/>
            <a:ahLst/>
            <a:cxnLst/>
            <a:rect l="l" t="t" r="r" b="b"/>
            <a:pathLst>
              <a:path w="0" h="639445">
                <a:moveTo>
                  <a:pt x="0" y="639233"/>
                </a:moveTo>
                <a:lnTo>
                  <a:pt x="0" y="0"/>
                </a:lnTo>
              </a:path>
            </a:pathLst>
          </a:custGeom>
          <a:ln w="4233">
            <a:solidFill>
              <a:srgbClr val="388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464116" y="3780366"/>
            <a:ext cx="0" cy="1071245"/>
          </a:xfrm>
          <a:custGeom>
            <a:avLst/>
            <a:gdLst/>
            <a:ahLst/>
            <a:cxnLst/>
            <a:rect l="l" t="t" r="r" b="b"/>
            <a:pathLst>
              <a:path w="0" h="1071245">
                <a:moveTo>
                  <a:pt x="0" y="1071033"/>
                </a:moveTo>
                <a:lnTo>
                  <a:pt x="0" y="0"/>
                </a:lnTo>
              </a:path>
            </a:pathLst>
          </a:custGeom>
          <a:ln w="4233">
            <a:solidFill>
              <a:srgbClr val="388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3667316" y="4237566"/>
            <a:ext cx="0" cy="639445"/>
          </a:xfrm>
          <a:custGeom>
            <a:avLst/>
            <a:gdLst/>
            <a:ahLst/>
            <a:cxnLst/>
            <a:rect l="l" t="t" r="r" b="b"/>
            <a:pathLst>
              <a:path w="0" h="639445">
                <a:moveTo>
                  <a:pt x="0" y="639233"/>
                </a:moveTo>
                <a:lnTo>
                  <a:pt x="0" y="0"/>
                </a:lnTo>
              </a:path>
            </a:pathLst>
          </a:custGeom>
          <a:ln w="4233">
            <a:solidFill>
              <a:srgbClr val="388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4111816" y="4199466"/>
            <a:ext cx="0" cy="677545"/>
          </a:xfrm>
          <a:custGeom>
            <a:avLst/>
            <a:gdLst/>
            <a:ahLst/>
            <a:cxnLst/>
            <a:rect l="l" t="t" r="r" b="b"/>
            <a:pathLst>
              <a:path w="0" h="677545">
                <a:moveTo>
                  <a:pt x="0" y="677333"/>
                </a:moveTo>
                <a:lnTo>
                  <a:pt x="0" y="0"/>
                </a:lnTo>
              </a:path>
            </a:pathLst>
          </a:custGeom>
          <a:ln w="4233">
            <a:solidFill>
              <a:srgbClr val="3880A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14414500" y="4199466"/>
            <a:ext cx="42545" cy="690245"/>
            <a:chOff x="14414500" y="4199466"/>
            <a:chExt cx="42545" cy="690245"/>
          </a:xfrm>
        </p:grpSpPr>
        <p:sp>
          <p:nvSpPr>
            <p:cNvPr id="32" name="object 32" descr=""/>
            <p:cNvSpPr/>
            <p:nvPr/>
          </p:nvSpPr>
          <p:spPr>
            <a:xfrm>
              <a:off x="14416616" y="4199466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w="0" h="690245">
                  <a:moveTo>
                    <a:pt x="0" y="690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429316" y="4199466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w="0" h="690245">
                  <a:moveTo>
                    <a:pt x="0" y="690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4454716" y="4199466"/>
              <a:ext cx="0" cy="677545"/>
            </a:xfrm>
            <a:custGeom>
              <a:avLst/>
              <a:gdLst/>
              <a:ahLst/>
              <a:cxnLst/>
              <a:rect l="l" t="t" r="r" b="b"/>
              <a:pathLst>
                <a:path w="0" h="677545">
                  <a:moveTo>
                    <a:pt x="0" y="677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1341100" y="8707966"/>
            <a:ext cx="5186045" cy="42545"/>
            <a:chOff x="11341100" y="8707966"/>
            <a:chExt cx="5186045" cy="42545"/>
          </a:xfrm>
        </p:grpSpPr>
        <p:sp>
          <p:nvSpPr>
            <p:cNvPr id="36" name="object 36" descr=""/>
            <p:cNvSpPr/>
            <p:nvPr/>
          </p:nvSpPr>
          <p:spPr>
            <a:xfrm>
              <a:off x="11417300" y="8748183"/>
              <a:ext cx="5084445" cy="0"/>
            </a:xfrm>
            <a:custGeom>
              <a:avLst/>
              <a:gdLst/>
              <a:ahLst/>
              <a:cxnLst/>
              <a:rect l="l" t="t" r="r" b="b"/>
              <a:pathLst>
                <a:path w="5084444" h="0">
                  <a:moveTo>
                    <a:pt x="0" y="0"/>
                  </a:moveTo>
                  <a:lnTo>
                    <a:pt x="5084233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341100" y="8710083"/>
              <a:ext cx="5186045" cy="0"/>
            </a:xfrm>
            <a:custGeom>
              <a:avLst/>
              <a:gdLst/>
              <a:ahLst/>
              <a:cxnLst/>
              <a:rect l="l" t="t" r="r" b="b"/>
              <a:pathLst>
                <a:path w="5186044" h="0">
                  <a:moveTo>
                    <a:pt x="0" y="0"/>
                  </a:moveTo>
                  <a:lnTo>
                    <a:pt x="5185833" y="0"/>
                  </a:lnTo>
                </a:path>
              </a:pathLst>
            </a:custGeom>
            <a:ln w="4233">
              <a:solidFill>
                <a:srgbClr val="388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11366500" y="2321983"/>
            <a:ext cx="5160645" cy="0"/>
          </a:xfrm>
          <a:custGeom>
            <a:avLst/>
            <a:gdLst/>
            <a:ahLst/>
            <a:cxnLst/>
            <a:rect l="l" t="t" r="r" b="b"/>
            <a:pathLst>
              <a:path w="5160644" h="0">
                <a:moveTo>
                  <a:pt x="0" y="0"/>
                </a:moveTo>
                <a:lnTo>
                  <a:pt x="5160433" y="0"/>
                </a:lnTo>
              </a:path>
            </a:pathLst>
          </a:custGeom>
          <a:ln w="4233">
            <a:solidFill>
              <a:srgbClr val="388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4129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105"/>
              </a:spcBef>
            </a:pPr>
            <a:r>
              <a:rPr dirty="0" sz="5200" spc="80">
                <a:solidFill>
                  <a:srgbClr val="0A2842"/>
                </a:solidFill>
              </a:rPr>
              <a:t>Cadre</a:t>
            </a:r>
            <a:r>
              <a:rPr dirty="0" sz="5200" spc="-165">
                <a:solidFill>
                  <a:srgbClr val="0A2842"/>
                </a:solidFill>
              </a:rPr>
              <a:t> </a:t>
            </a:r>
            <a:r>
              <a:rPr dirty="0" sz="5200" spc="229">
                <a:solidFill>
                  <a:srgbClr val="0F2B49"/>
                </a:solidFill>
              </a:rPr>
              <a:t>Méthodologique</a:t>
            </a:r>
            <a:r>
              <a:rPr dirty="0" sz="5200" spc="-420">
                <a:solidFill>
                  <a:srgbClr val="0F2B49"/>
                </a:solidFill>
              </a:rPr>
              <a:t> </a:t>
            </a:r>
            <a:r>
              <a:rPr dirty="0" sz="5200" spc="210">
                <a:solidFill>
                  <a:srgbClr val="0C2A44"/>
                </a:solidFill>
              </a:rPr>
              <a:t>et</a:t>
            </a:r>
            <a:r>
              <a:rPr dirty="0" sz="5200" spc="-215">
                <a:solidFill>
                  <a:srgbClr val="0C2A44"/>
                </a:solidFill>
              </a:rPr>
              <a:t> </a:t>
            </a:r>
            <a:r>
              <a:rPr dirty="0" sz="5200" spc="105">
                <a:solidFill>
                  <a:srgbClr val="13334F"/>
                </a:solidFill>
              </a:rPr>
              <a:t>Population</a:t>
            </a:r>
            <a:endParaRPr sz="5200"/>
          </a:p>
        </p:txBody>
      </p:sp>
      <p:sp>
        <p:nvSpPr>
          <p:cNvPr id="43" name="object 43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249554" algn="l"/>
              </a:tabLst>
            </a:pPr>
            <a:r>
              <a:rPr dirty="0" sz="1300" spc="-305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929216" y="2436283"/>
            <a:ext cx="9893300" cy="2844800"/>
          </a:xfrm>
          <a:prstGeom prst="rect">
            <a:avLst/>
          </a:prstGeom>
          <a:ln w="29633">
            <a:solidFill>
              <a:srgbClr val="3B83A3"/>
            </a:solidFill>
          </a:ln>
        </p:spPr>
        <p:txBody>
          <a:bodyPr wrap="square" lIns="0" tIns="459105" rIns="0" bIns="0" rtlCol="0" vert="horz">
            <a:spAutoFit/>
          </a:bodyPr>
          <a:lstStyle/>
          <a:p>
            <a:pPr algn="ctr" marR="550545">
              <a:lnSpc>
                <a:spcPct val="100000"/>
              </a:lnSpc>
              <a:spcBef>
                <a:spcPts val="3615"/>
              </a:spcBef>
            </a:pPr>
            <a:r>
              <a:rPr dirty="0" sz="3850">
                <a:solidFill>
                  <a:srgbClr val="0E2D4B"/>
                </a:solidFill>
                <a:latin typeface="Arial MT"/>
                <a:cs typeface="Arial MT"/>
              </a:rPr>
              <a:t>Design</a:t>
            </a:r>
            <a:r>
              <a:rPr dirty="0" sz="3850" spc="110">
                <a:solidFill>
                  <a:srgbClr val="0E2D4B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C2B48"/>
                </a:solidFill>
                <a:latin typeface="Arial MT"/>
                <a:cs typeface="Arial MT"/>
              </a:rPr>
              <a:t>de</a:t>
            </a:r>
            <a:r>
              <a:rPr dirty="0" sz="3850" spc="-105">
                <a:solidFill>
                  <a:srgbClr val="0C2B48"/>
                </a:solidFill>
                <a:latin typeface="Arial MT"/>
                <a:cs typeface="Arial MT"/>
              </a:rPr>
              <a:t> </a:t>
            </a:r>
            <a:r>
              <a:rPr dirty="0" sz="3850" spc="-10">
                <a:solidFill>
                  <a:srgbClr val="0A2641"/>
                </a:solidFill>
                <a:latin typeface="Arial MT"/>
                <a:cs typeface="Arial MT"/>
              </a:rPr>
              <a:t>l'Étude</a:t>
            </a:r>
            <a:endParaRPr sz="3850">
              <a:latin typeface="Arial MT"/>
              <a:cs typeface="Arial MT"/>
            </a:endParaRPr>
          </a:p>
          <a:p>
            <a:pPr marL="3201670" indent="-263525">
              <a:lnSpc>
                <a:spcPct val="100000"/>
              </a:lnSpc>
              <a:spcBef>
                <a:spcPts val="1680"/>
              </a:spcBef>
              <a:buClr>
                <a:srgbClr val="052842"/>
              </a:buClr>
              <a:buChar char="•"/>
              <a:tabLst>
                <a:tab pos="3201670" algn="l"/>
              </a:tabLst>
            </a:pPr>
            <a:r>
              <a:rPr dirty="0" sz="2750" spc="-65">
                <a:latin typeface="Arial MT"/>
                <a:cs typeface="Arial MT"/>
              </a:rPr>
              <a:t>Type</a:t>
            </a:r>
            <a:r>
              <a:rPr dirty="0" sz="2750" spc="-130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:</a:t>
            </a:r>
            <a:r>
              <a:rPr dirty="0" sz="2750" spc="-190">
                <a:latin typeface="Arial MT"/>
                <a:cs typeface="Arial MT"/>
              </a:rPr>
              <a:t> </a:t>
            </a:r>
            <a:r>
              <a:rPr dirty="0" sz="2750" spc="-70">
                <a:latin typeface="Arial MT"/>
                <a:cs typeface="Arial MT"/>
              </a:rPr>
              <a:t>Étude</a:t>
            </a:r>
            <a:r>
              <a:rPr dirty="0" sz="2750" spc="-114">
                <a:latin typeface="Arial MT"/>
                <a:cs typeface="Arial MT"/>
              </a:rPr>
              <a:t> </a:t>
            </a:r>
            <a:r>
              <a:rPr dirty="0" sz="2750" spc="-30">
                <a:latin typeface="Arial MT"/>
                <a:cs typeface="Arial MT"/>
              </a:rPr>
              <a:t>descriptive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et</a:t>
            </a:r>
            <a:r>
              <a:rPr dirty="0" sz="2750" spc="-3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analytique.</a:t>
            </a:r>
            <a:endParaRPr sz="2750">
              <a:latin typeface="Arial MT"/>
              <a:cs typeface="Arial MT"/>
            </a:endParaRPr>
          </a:p>
          <a:p>
            <a:pPr marL="3202305" indent="-264160">
              <a:lnSpc>
                <a:spcPct val="100000"/>
              </a:lnSpc>
              <a:spcBef>
                <a:spcPts val="900"/>
              </a:spcBef>
              <a:buClr>
                <a:srgbClr val="082642"/>
              </a:buClr>
              <a:buChar char="•"/>
              <a:tabLst>
                <a:tab pos="3202305" algn="l"/>
              </a:tabLst>
            </a:pPr>
            <a:r>
              <a:rPr dirty="0" sz="2750" spc="-35">
                <a:latin typeface="Arial MT"/>
                <a:cs typeface="Arial MT"/>
              </a:rPr>
              <a:t>Temporalité</a:t>
            </a:r>
            <a:r>
              <a:rPr dirty="0" sz="2750" spc="-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:</a:t>
            </a:r>
            <a:r>
              <a:rPr dirty="0" sz="2750" spc="-180">
                <a:latin typeface="Arial MT"/>
                <a:cs typeface="Arial MT"/>
              </a:rPr>
              <a:t> </a:t>
            </a:r>
            <a:r>
              <a:rPr dirty="0" sz="2750" spc="-45">
                <a:latin typeface="Arial MT"/>
                <a:cs typeface="Arial MT"/>
              </a:rPr>
              <a:t>Prospective</a:t>
            </a:r>
            <a:r>
              <a:rPr dirty="0" sz="2750" spc="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/</a:t>
            </a:r>
            <a:r>
              <a:rPr dirty="0" sz="2750" spc="-18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Rétrospective.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37683" y="5916083"/>
            <a:ext cx="9885045" cy="2857500"/>
          </a:xfrm>
          <a:prstGeom prst="rect">
            <a:avLst/>
          </a:prstGeom>
          <a:ln w="29633">
            <a:solidFill>
              <a:srgbClr val="3B83A8"/>
            </a:solidFill>
          </a:ln>
        </p:spPr>
        <p:txBody>
          <a:bodyPr wrap="square" lIns="0" tIns="332105" rIns="0" bIns="0" rtlCol="0" vert="horz">
            <a:spAutoFit/>
          </a:bodyPr>
          <a:lstStyle/>
          <a:p>
            <a:pPr marL="2734310">
              <a:lnSpc>
                <a:spcPct val="100000"/>
              </a:lnSpc>
              <a:spcBef>
                <a:spcPts val="2615"/>
              </a:spcBef>
            </a:pPr>
            <a:r>
              <a:rPr dirty="0" sz="3850" spc="-20">
                <a:solidFill>
                  <a:srgbClr val="0C2F4B"/>
                </a:solidFill>
                <a:latin typeface="Arial MT"/>
                <a:cs typeface="Arial MT"/>
              </a:rPr>
              <a:t>Lieu</a:t>
            </a:r>
            <a:endParaRPr sz="3850">
              <a:latin typeface="Arial MT"/>
              <a:cs typeface="Arial MT"/>
            </a:endParaRPr>
          </a:p>
          <a:p>
            <a:pPr marL="3184525" marR="1812925" indent="-255904">
              <a:lnSpc>
                <a:spcPts val="3100"/>
              </a:lnSpc>
              <a:spcBef>
                <a:spcPts val="1450"/>
              </a:spcBef>
              <a:buClr>
                <a:srgbClr val="082A4B"/>
              </a:buClr>
              <a:buChar char="•"/>
              <a:tabLst>
                <a:tab pos="3205480" algn="l"/>
              </a:tabLst>
            </a:pPr>
            <a:r>
              <a:rPr dirty="0" sz="2900" spc="-110">
                <a:latin typeface="Arial MT"/>
                <a:cs typeface="Arial MT"/>
              </a:rPr>
              <a:t>Service</a:t>
            </a:r>
            <a:r>
              <a:rPr dirty="0" sz="2900" spc="-90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d'imagerie</a:t>
            </a:r>
            <a:r>
              <a:rPr dirty="0" sz="2900" spc="75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médicale</a:t>
            </a:r>
            <a:r>
              <a:rPr dirty="0" sz="2900" spc="-90">
                <a:latin typeface="Arial MT"/>
                <a:cs typeface="Arial MT"/>
              </a:rPr>
              <a:t> </a:t>
            </a:r>
            <a:r>
              <a:rPr dirty="0" sz="2900" spc="-150">
                <a:latin typeface="Arial MT"/>
                <a:cs typeface="Arial MT"/>
              </a:rPr>
              <a:t>INO </a:t>
            </a:r>
            <a:r>
              <a:rPr dirty="0" sz="2900" spc="-150">
                <a:latin typeface="Arial MT"/>
                <a:cs typeface="Arial MT"/>
              </a:rPr>
              <a:t>	</a:t>
            </a:r>
            <a:r>
              <a:rPr dirty="0" sz="2900" spc="-60">
                <a:latin typeface="Arial MT"/>
                <a:cs typeface="Arial MT"/>
              </a:rPr>
              <a:t>(Institut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National</a:t>
            </a:r>
            <a:r>
              <a:rPr dirty="0" sz="2900" spc="-80">
                <a:latin typeface="Arial MT"/>
                <a:cs typeface="Arial MT"/>
              </a:rPr>
              <a:t> </a:t>
            </a:r>
            <a:r>
              <a:rPr dirty="0" sz="2900" spc="-65">
                <a:latin typeface="Arial MT"/>
                <a:cs typeface="Arial MT"/>
              </a:rPr>
              <a:t>d'Oncologie)</a:t>
            </a:r>
            <a:endParaRPr sz="2900">
              <a:latin typeface="Arial MT"/>
              <a:cs typeface="Arial MT"/>
            </a:endParaRPr>
          </a:p>
          <a:p>
            <a:pPr marL="3187065" indent="-257810">
              <a:lnSpc>
                <a:spcPct val="100000"/>
              </a:lnSpc>
              <a:spcBef>
                <a:spcPts val="730"/>
              </a:spcBef>
              <a:buClr>
                <a:srgbClr val="0C3352"/>
              </a:buClr>
              <a:buChar char="•"/>
              <a:tabLst>
                <a:tab pos="3187065" algn="l"/>
              </a:tabLst>
            </a:pPr>
            <a:r>
              <a:rPr dirty="0" sz="2750" spc="-40">
                <a:latin typeface="Arial MT"/>
                <a:cs typeface="Arial MT"/>
              </a:rPr>
              <a:t>Équipement</a:t>
            </a:r>
            <a:r>
              <a:rPr dirty="0" sz="2750" spc="-9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:</a:t>
            </a:r>
            <a:r>
              <a:rPr dirty="0" sz="2750" spc="-190">
                <a:latin typeface="Arial MT"/>
                <a:cs typeface="Arial MT"/>
              </a:rPr>
              <a:t> </a:t>
            </a:r>
            <a:r>
              <a:rPr dirty="0" sz="2750" spc="-60">
                <a:latin typeface="Arial MT"/>
                <a:cs typeface="Arial MT"/>
              </a:rPr>
              <a:t>Scanner</a:t>
            </a:r>
            <a:r>
              <a:rPr dirty="0" sz="2750" spc="5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(TDM)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377083" y="4685912"/>
            <a:ext cx="5133340" cy="3605529"/>
          </a:xfrm>
          <a:prstGeom prst="rect">
            <a:avLst/>
          </a:prstGeom>
        </p:spPr>
        <p:txBody>
          <a:bodyPr wrap="square" lIns="0" tIns="342900" rIns="0" bIns="0" rtlCol="0" vert="horz">
            <a:spAutoFit/>
          </a:bodyPr>
          <a:lstStyle/>
          <a:p>
            <a:pPr marL="501015">
              <a:lnSpc>
                <a:spcPct val="100000"/>
              </a:lnSpc>
              <a:spcBef>
                <a:spcPts val="2700"/>
              </a:spcBef>
            </a:pPr>
            <a:r>
              <a:rPr dirty="0" sz="4350" spc="-30">
                <a:solidFill>
                  <a:srgbClr val="1A3F59"/>
                </a:solidFill>
                <a:latin typeface="Calibri"/>
                <a:cs typeface="Calibri"/>
              </a:rPr>
              <a:t>Population</a:t>
            </a:r>
            <a:r>
              <a:rPr dirty="0" sz="4350" spc="-195">
                <a:solidFill>
                  <a:srgbClr val="1A3F59"/>
                </a:solidFill>
                <a:latin typeface="Calibri"/>
                <a:cs typeface="Calibri"/>
              </a:rPr>
              <a:t> </a:t>
            </a:r>
            <a:r>
              <a:rPr dirty="0" sz="4350" spc="-10">
                <a:solidFill>
                  <a:srgbClr val="0F2D48"/>
                </a:solidFill>
                <a:latin typeface="Calibri"/>
                <a:cs typeface="Calibri"/>
              </a:rPr>
              <a:t>Ciblée</a:t>
            </a:r>
            <a:endParaRPr sz="4350">
              <a:latin typeface="Calibri"/>
              <a:cs typeface="Calibri"/>
            </a:endParaRPr>
          </a:p>
          <a:p>
            <a:pPr marL="582295" indent="-269240">
              <a:lnSpc>
                <a:spcPct val="100000"/>
              </a:lnSpc>
              <a:spcBef>
                <a:spcPts val="1680"/>
              </a:spcBef>
              <a:buClr>
                <a:srgbClr val="072642"/>
              </a:buClr>
              <a:buChar char="•"/>
              <a:tabLst>
                <a:tab pos="582295" algn="l"/>
              </a:tabLst>
            </a:pPr>
            <a:r>
              <a:rPr dirty="0" sz="2850" spc="-75">
                <a:latin typeface="Arial MT"/>
                <a:cs typeface="Arial MT"/>
              </a:rPr>
              <a:t>Patients</a:t>
            </a:r>
            <a:r>
              <a:rPr dirty="0" sz="2850" spc="-12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:</a:t>
            </a:r>
            <a:r>
              <a:rPr dirty="0" sz="2850" spc="-145">
                <a:latin typeface="Arial MT"/>
                <a:cs typeface="Arial MT"/>
              </a:rPr>
              <a:t> </a:t>
            </a:r>
            <a:r>
              <a:rPr dirty="0" sz="2850" spc="-120">
                <a:latin typeface="Arial MT"/>
                <a:cs typeface="Arial MT"/>
              </a:rPr>
              <a:t>Adultes</a:t>
            </a:r>
            <a:r>
              <a:rPr dirty="0" sz="2850" spc="-8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et</a:t>
            </a:r>
            <a:r>
              <a:rPr dirty="0" sz="2850" spc="-5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enfants</a:t>
            </a:r>
            <a:endParaRPr sz="2850">
              <a:latin typeface="Arial MT"/>
              <a:cs typeface="Arial MT"/>
            </a:endParaRPr>
          </a:p>
          <a:p>
            <a:pPr marL="584200" indent="-270510">
              <a:lnSpc>
                <a:spcPct val="100000"/>
              </a:lnSpc>
              <a:spcBef>
                <a:spcPts val="930"/>
              </a:spcBef>
              <a:buClr>
                <a:srgbClr val="0A2D48"/>
              </a:buClr>
              <a:buChar char="•"/>
              <a:tabLst>
                <a:tab pos="584200" algn="l"/>
              </a:tabLst>
            </a:pPr>
            <a:r>
              <a:rPr dirty="0" sz="2700" spc="-60">
                <a:latin typeface="Arial MT"/>
                <a:cs typeface="Arial MT"/>
              </a:rPr>
              <a:t>Examens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-85">
                <a:latin typeface="Arial MT"/>
                <a:cs typeface="Arial MT"/>
              </a:rPr>
              <a:t>TDM</a:t>
            </a:r>
            <a:r>
              <a:rPr dirty="0" sz="2700" spc="-9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courants</a:t>
            </a:r>
            <a:r>
              <a:rPr dirty="0" sz="2700" spc="45">
                <a:latin typeface="Arial MT"/>
                <a:cs typeface="Arial MT"/>
              </a:rPr>
              <a:t> </a:t>
            </a:r>
            <a:r>
              <a:rPr dirty="0" sz="2700" spc="15">
                <a:latin typeface="Arial MT"/>
                <a:cs typeface="Arial MT"/>
              </a:rPr>
              <a:t>:</a:t>
            </a:r>
            <a:endParaRPr sz="2700">
              <a:latin typeface="Arial MT"/>
              <a:cs typeface="Arial MT"/>
            </a:endParaRPr>
          </a:p>
          <a:p>
            <a:pPr lvl="1" marL="1049655" indent="-220979">
              <a:lnSpc>
                <a:spcPct val="100000"/>
              </a:lnSpc>
              <a:spcBef>
                <a:spcPts val="310"/>
              </a:spcBef>
              <a:buChar char="-"/>
              <a:tabLst>
                <a:tab pos="1049655" algn="l"/>
              </a:tabLst>
            </a:pPr>
            <a:r>
              <a:rPr dirty="0" sz="2850" spc="-10">
                <a:latin typeface="Arial MT"/>
                <a:cs typeface="Arial MT"/>
              </a:rPr>
              <a:t>Crâne</a:t>
            </a:r>
            <a:endParaRPr sz="2850">
              <a:latin typeface="Arial MT"/>
              <a:cs typeface="Arial MT"/>
            </a:endParaRPr>
          </a:p>
          <a:p>
            <a:pPr lvl="1" marL="1059180" indent="-230504">
              <a:lnSpc>
                <a:spcPct val="100000"/>
              </a:lnSpc>
              <a:spcBef>
                <a:spcPts val="180"/>
              </a:spcBef>
              <a:buChar char="-"/>
              <a:tabLst>
                <a:tab pos="1059180" algn="l"/>
              </a:tabLst>
            </a:pPr>
            <a:r>
              <a:rPr dirty="0" sz="2850" spc="-10">
                <a:latin typeface="Arial MT"/>
                <a:cs typeface="Arial MT"/>
              </a:rPr>
              <a:t>Thorax</a:t>
            </a:r>
            <a:endParaRPr sz="2850">
              <a:latin typeface="Arial MT"/>
              <a:cs typeface="Arial MT"/>
            </a:endParaRPr>
          </a:p>
          <a:p>
            <a:pPr lvl="1" marL="1067435" indent="-239395">
              <a:lnSpc>
                <a:spcPct val="100000"/>
              </a:lnSpc>
              <a:spcBef>
                <a:spcPts val="280"/>
              </a:spcBef>
              <a:buChar char="-"/>
              <a:tabLst>
                <a:tab pos="1067435" algn="l"/>
              </a:tabLst>
            </a:pPr>
            <a:r>
              <a:rPr dirty="0" sz="2900" spc="-65">
                <a:latin typeface="Arial MT"/>
                <a:cs typeface="Arial MT"/>
              </a:rPr>
              <a:t>Abdomen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500" y="3175000"/>
            <a:ext cx="8966200" cy="3403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4900" y="3175000"/>
            <a:ext cx="6629400" cy="3403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2011" rIns="0" bIns="0" rtlCol="0" vert="horz">
            <a:spAutoFit/>
          </a:bodyPr>
          <a:lstStyle/>
          <a:p>
            <a:pPr marL="97155">
              <a:lnSpc>
                <a:spcPts val="5945"/>
              </a:lnSpc>
              <a:spcBef>
                <a:spcPts val="135"/>
              </a:spcBef>
            </a:pPr>
            <a:r>
              <a:rPr dirty="0" sz="5450">
                <a:solidFill>
                  <a:srgbClr val="0C214B"/>
                </a:solidFill>
              </a:rPr>
              <a:t>Stratégie</a:t>
            </a:r>
            <a:r>
              <a:rPr dirty="0" sz="5450" spc="-325">
                <a:solidFill>
                  <a:srgbClr val="0C214B"/>
                </a:solidFill>
              </a:rPr>
              <a:t> </a:t>
            </a:r>
            <a:r>
              <a:rPr dirty="0" sz="5450" spc="-70">
                <a:solidFill>
                  <a:srgbClr val="0C234F"/>
                </a:solidFill>
              </a:rPr>
              <a:t>de</a:t>
            </a:r>
            <a:r>
              <a:rPr dirty="0" sz="5450" spc="-380">
                <a:solidFill>
                  <a:srgbClr val="0C234F"/>
                </a:solidFill>
              </a:rPr>
              <a:t> </a:t>
            </a:r>
            <a:r>
              <a:rPr dirty="0" sz="5450">
                <a:solidFill>
                  <a:srgbClr val="0E2149"/>
                </a:solidFill>
              </a:rPr>
              <a:t>Collecte</a:t>
            </a:r>
            <a:r>
              <a:rPr dirty="0" sz="5450" spc="-175">
                <a:solidFill>
                  <a:srgbClr val="0E2149"/>
                </a:solidFill>
              </a:rPr>
              <a:t> </a:t>
            </a:r>
            <a:r>
              <a:rPr dirty="0" sz="5450" spc="-70">
                <a:solidFill>
                  <a:srgbClr val="0F264F"/>
                </a:solidFill>
              </a:rPr>
              <a:t>de</a:t>
            </a:r>
            <a:r>
              <a:rPr dirty="0" sz="5450" spc="-430">
                <a:solidFill>
                  <a:srgbClr val="0F264F"/>
                </a:solidFill>
              </a:rPr>
              <a:t> </a:t>
            </a:r>
            <a:r>
              <a:rPr dirty="0" sz="5450" spc="-30">
                <a:solidFill>
                  <a:srgbClr val="0A1F49"/>
                </a:solidFill>
              </a:rPr>
              <a:t>Données</a:t>
            </a:r>
            <a:endParaRPr sz="5450"/>
          </a:p>
          <a:p>
            <a:pPr marL="86360">
              <a:lnSpc>
                <a:spcPts val="6125"/>
              </a:lnSpc>
            </a:pPr>
            <a:r>
              <a:rPr dirty="0" sz="5600" spc="-35">
                <a:solidFill>
                  <a:srgbClr val="0A234D"/>
                </a:solidFill>
              </a:rPr>
              <a:t>Dosimétriques</a:t>
            </a:r>
            <a:endParaRPr sz="5600"/>
          </a:p>
        </p:txBody>
      </p:sp>
      <p:sp>
        <p:nvSpPr>
          <p:cNvPr id="10" name="object 10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249554" algn="l"/>
              </a:tabLst>
            </a:pPr>
            <a:r>
              <a:rPr dirty="0" sz="1300" spc="-305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42205" y="5767211"/>
            <a:ext cx="234823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>
                <a:solidFill>
                  <a:srgbClr val="0A183F"/>
                </a:solidFill>
                <a:latin typeface="Arial MT"/>
                <a:cs typeface="Arial MT"/>
              </a:rPr>
              <a:t>Console</a:t>
            </a:r>
            <a:r>
              <a:rPr dirty="0" sz="2600" spc="60">
                <a:solidFill>
                  <a:srgbClr val="0A183F"/>
                </a:solidFill>
                <a:latin typeface="Arial MT"/>
                <a:cs typeface="Arial MT"/>
              </a:rPr>
              <a:t> </a:t>
            </a:r>
            <a:r>
              <a:rPr dirty="0" sz="2600" spc="55">
                <a:solidFill>
                  <a:srgbClr val="0A182F"/>
                </a:solidFill>
                <a:latin typeface="Arial MT"/>
                <a:cs typeface="Arial MT"/>
              </a:rPr>
              <a:t>/</a:t>
            </a:r>
            <a:r>
              <a:rPr dirty="0" sz="2600" spc="-85">
                <a:solidFill>
                  <a:srgbClr val="0A182F"/>
                </a:solidFill>
                <a:latin typeface="Arial MT"/>
                <a:cs typeface="Arial MT"/>
              </a:rPr>
              <a:t> </a:t>
            </a:r>
            <a:r>
              <a:rPr dirty="0" sz="2600" spc="-135">
                <a:solidFill>
                  <a:srgbClr val="0C1F44"/>
                </a:solidFill>
                <a:latin typeface="Arial MT"/>
                <a:cs typeface="Arial MT"/>
              </a:rPr>
              <a:t>PACS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12031" y="5776030"/>
            <a:ext cx="277304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>
                <a:solidFill>
                  <a:srgbClr val="081A3F"/>
                </a:solidFill>
                <a:latin typeface="Arial MT"/>
                <a:cs typeface="Arial MT"/>
              </a:rPr>
              <a:t>Fiches</a:t>
            </a:r>
            <a:r>
              <a:rPr dirty="0" sz="2550" spc="30">
                <a:solidFill>
                  <a:srgbClr val="081A3F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051333"/>
                </a:solidFill>
                <a:latin typeface="Arial MT"/>
                <a:cs typeface="Arial MT"/>
              </a:rPr>
              <a:t>de</a:t>
            </a:r>
            <a:r>
              <a:rPr dirty="0" sz="2550" spc="20">
                <a:solidFill>
                  <a:srgbClr val="051333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011534"/>
                </a:solidFill>
                <a:latin typeface="Arial MT"/>
                <a:cs typeface="Arial MT"/>
              </a:rPr>
              <a:t>Collecte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9245" y="8327672"/>
            <a:ext cx="5942330" cy="8153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125"/>
              </a:lnSpc>
              <a:spcBef>
                <a:spcPts val="125"/>
              </a:spcBef>
            </a:pPr>
            <a:r>
              <a:rPr dirty="0" sz="2750" spc="-20">
                <a:solidFill>
                  <a:srgbClr val="000E2D"/>
                </a:solidFill>
                <a:latin typeface="Arial MT"/>
                <a:cs typeface="Arial MT"/>
              </a:rPr>
              <a:t>Outils</a:t>
            </a:r>
            <a:r>
              <a:rPr dirty="0" sz="2750" spc="-175">
                <a:solidFill>
                  <a:srgbClr val="000E2D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011538"/>
                </a:solidFill>
                <a:latin typeface="Arial MT"/>
                <a:cs typeface="Arial MT"/>
              </a:rPr>
              <a:t>de</a:t>
            </a:r>
            <a:r>
              <a:rPr dirty="0" sz="2750" spc="-195">
                <a:solidFill>
                  <a:srgbClr val="011538"/>
                </a:solidFill>
                <a:latin typeface="Arial MT"/>
                <a:cs typeface="Arial MT"/>
              </a:rPr>
              <a:t> </a:t>
            </a:r>
            <a:r>
              <a:rPr dirty="0" sz="2750" spc="-40">
                <a:solidFill>
                  <a:srgbClr val="031636"/>
                </a:solidFill>
                <a:latin typeface="Arial MT"/>
                <a:cs typeface="Arial MT"/>
              </a:rPr>
              <a:t>Traitement</a:t>
            </a:r>
            <a:r>
              <a:rPr dirty="0" sz="2750" spc="-110">
                <a:solidFill>
                  <a:srgbClr val="031636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161616"/>
                </a:solidFill>
                <a:latin typeface="Arial MT"/>
                <a:cs typeface="Arial MT"/>
              </a:rPr>
              <a:t>:</a:t>
            </a:r>
            <a:r>
              <a:rPr dirty="0" sz="2750" spc="-5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2750" spc="-114">
                <a:solidFill>
                  <a:srgbClr val="050F28"/>
                </a:solidFill>
                <a:latin typeface="Arial MT"/>
                <a:cs typeface="Arial MT"/>
              </a:rPr>
              <a:t>Public</a:t>
            </a:r>
            <a:r>
              <a:rPr dirty="0" sz="2750" spc="65">
                <a:solidFill>
                  <a:srgbClr val="050F28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1C1C1C"/>
                </a:solidFill>
                <a:latin typeface="Arial MT"/>
                <a:cs typeface="Arial MT"/>
              </a:rPr>
              <a:t>Sans</a:t>
            </a:r>
            <a:endParaRPr sz="2750">
              <a:latin typeface="Arial MT"/>
              <a:cs typeface="Arial MT"/>
            </a:endParaRPr>
          </a:p>
          <a:p>
            <a:pPr marL="16510">
              <a:lnSpc>
                <a:spcPts val="3065"/>
              </a:lnSpc>
            </a:pPr>
            <a:r>
              <a:rPr dirty="0" sz="2700" spc="-25">
                <a:solidFill>
                  <a:srgbClr val="313131"/>
                </a:solidFill>
                <a:latin typeface="Arial MT"/>
                <a:cs typeface="Arial MT"/>
              </a:rPr>
              <a:t>Microsoft</a:t>
            </a:r>
            <a:r>
              <a:rPr dirty="0" sz="2700" spc="-13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700" spc="-130">
                <a:solidFill>
                  <a:srgbClr val="242424"/>
                </a:solidFill>
                <a:latin typeface="Arial MT"/>
                <a:cs typeface="Arial MT"/>
              </a:rPr>
              <a:t>Excel</a:t>
            </a:r>
            <a:r>
              <a:rPr dirty="0" sz="2700" spc="-6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700" spc="-290">
                <a:solidFill>
                  <a:srgbClr val="081636"/>
                </a:solidFill>
                <a:latin typeface="Arial MT"/>
                <a:cs typeface="Arial MT"/>
              </a:rPr>
              <a:t>&amp;</a:t>
            </a:r>
            <a:r>
              <a:rPr dirty="0" sz="2700" spc="-65">
                <a:solidFill>
                  <a:srgbClr val="081636"/>
                </a:solidFill>
                <a:latin typeface="Arial MT"/>
                <a:cs typeface="Arial MT"/>
              </a:rPr>
              <a:t> </a:t>
            </a:r>
            <a:r>
              <a:rPr dirty="0" sz="2700" spc="-85">
                <a:solidFill>
                  <a:srgbClr val="1A1A1A"/>
                </a:solidFill>
                <a:latin typeface="Arial MT"/>
                <a:cs typeface="Arial MT"/>
              </a:rPr>
              <a:t>Référentiels</a:t>
            </a:r>
            <a:r>
              <a:rPr dirty="0" sz="2700" spc="1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700" spc="-270">
                <a:solidFill>
                  <a:srgbClr val="07162D"/>
                </a:solidFill>
                <a:latin typeface="Arial MT"/>
                <a:cs typeface="Arial MT"/>
              </a:rPr>
              <a:t>NRD.</a:t>
            </a:r>
            <a:r>
              <a:rPr dirty="0" sz="2700" spc="45">
                <a:solidFill>
                  <a:srgbClr val="07162D"/>
                </a:solidFill>
                <a:latin typeface="Arial MT"/>
                <a:cs typeface="Arial MT"/>
              </a:rPr>
              <a:t> </a:t>
            </a:r>
            <a:r>
              <a:rPr dirty="0" sz="2700" spc="-60">
                <a:solidFill>
                  <a:srgbClr val="111111"/>
                </a:solidFill>
                <a:latin typeface="Arial MT"/>
                <a:cs typeface="Arial MT"/>
              </a:rPr>
              <a:t>Inter.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143418" y="4081991"/>
            <a:ext cx="1610360" cy="1406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9050">
              <a:lnSpc>
                <a:spcPts val="6070"/>
              </a:lnSpc>
              <a:spcBef>
                <a:spcPts val="105"/>
              </a:spcBef>
            </a:pPr>
            <a:r>
              <a:rPr dirty="0" sz="5200" spc="-405">
                <a:solidFill>
                  <a:srgbClr val="0C2450"/>
                </a:solidFill>
                <a:latin typeface="Arial MT"/>
                <a:cs typeface="Arial MT"/>
              </a:rPr>
              <a:t>DLP</a:t>
            </a:r>
            <a:endParaRPr sz="5200">
              <a:latin typeface="Arial MT"/>
              <a:cs typeface="Arial MT"/>
            </a:endParaRPr>
          </a:p>
          <a:p>
            <a:pPr algn="ctr">
              <a:lnSpc>
                <a:spcPts val="2400"/>
              </a:lnSpc>
            </a:pPr>
            <a:r>
              <a:rPr dirty="0" sz="2200" spc="-65">
                <a:solidFill>
                  <a:srgbClr val="0F0F0F"/>
                </a:solidFill>
                <a:latin typeface="Arial MT"/>
                <a:cs typeface="Arial MT"/>
              </a:rPr>
              <a:t>(Produit</a:t>
            </a:r>
            <a:r>
              <a:rPr dirty="0" sz="220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131313"/>
                </a:solidFill>
                <a:latin typeface="Arial MT"/>
                <a:cs typeface="Arial MT"/>
              </a:rPr>
              <a:t>Dose</a:t>
            </a:r>
            <a:endParaRPr sz="2200">
              <a:latin typeface="Arial MT"/>
              <a:cs typeface="Arial MT"/>
            </a:endParaRPr>
          </a:p>
          <a:p>
            <a:pPr algn="ctr" marR="30480">
              <a:lnSpc>
                <a:spcPts val="2390"/>
              </a:lnSpc>
            </a:pPr>
            <a:r>
              <a:rPr dirty="0" sz="2050" spc="-10">
                <a:solidFill>
                  <a:srgbClr val="111111"/>
                </a:solidFill>
                <a:latin typeface="Arial MT"/>
                <a:cs typeface="Arial MT"/>
              </a:rPr>
              <a:t>Longueur)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520750" y="4081991"/>
            <a:ext cx="2258060" cy="1696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6070"/>
              </a:lnSpc>
              <a:spcBef>
                <a:spcPts val="105"/>
              </a:spcBef>
            </a:pPr>
            <a:r>
              <a:rPr dirty="0" sz="5200" spc="-200">
                <a:solidFill>
                  <a:srgbClr val="0A214B"/>
                </a:solidFill>
                <a:latin typeface="Arial MT"/>
                <a:cs typeface="Arial MT"/>
              </a:rPr>
              <a:t>CTDIvoI</a:t>
            </a:r>
            <a:endParaRPr sz="5200">
              <a:latin typeface="Arial MT"/>
              <a:cs typeface="Arial MT"/>
            </a:endParaRPr>
          </a:p>
          <a:p>
            <a:pPr algn="ctr" marL="15240" marR="5080">
              <a:lnSpc>
                <a:spcPct val="90200"/>
              </a:lnSpc>
              <a:spcBef>
                <a:spcPts val="90"/>
              </a:spcBef>
            </a:pPr>
            <a:r>
              <a:rPr dirty="0" sz="2200" spc="-110">
                <a:solidFill>
                  <a:srgbClr val="111111"/>
                </a:solidFill>
                <a:latin typeface="Arial MT"/>
                <a:cs typeface="Arial MT"/>
              </a:rPr>
              <a:t>(Volume</a:t>
            </a:r>
            <a:r>
              <a:rPr dirty="0" sz="22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151515"/>
                </a:solidFill>
                <a:latin typeface="Arial MT"/>
                <a:cs typeface="Arial MT"/>
              </a:rPr>
              <a:t>Computed </a:t>
            </a:r>
            <a:r>
              <a:rPr dirty="0" sz="2050" spc="-10">
                <a:solidFill>
                  <a:srgbClr val="0F0F0F"/>
                </a:solidFill>
                <a:latin typeface="Arial MT"/>
                <a:cs typeface="Arial MT"/>
              </a:rPr>
              <a:t>Tomography</a:t>
            </a:r>
            <a:r>
              <a:rPr dirty="0" sz="205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151515"/>
                </a:solidFill>
                <a:latin typeface="Arial MT"/>
                <a:cs typeface="Arial MT"/>
              </a:rPr>
              <a:t>Dose </a:t>
            </a:r>
            <a:r>
              <a:rPr dirty="0" sz="2200" spc="-10">
                <a:solidFill>
                  <a:srgbClr val="161616"/>
                </a:solidFill>
                <a:latin typeface="Arial MT"/>
                <a:cs typeface="Arial MT"/>
              </a:rPr>
              <a:t>Index)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2146300"/>
            <a:ext cx="15887700" cy="6692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2467" y="139347"/>
            <a:ext cx="9982835" cy="734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90">
                <a:solidFill>
                  <a:srgbClr val="0E2450"/>
                </a:solidFill>
              </a:rPr>
              <a:t>Analyse</a:t>
            </a:r>
            <a:r>
              <a:rPr dirty="0" sz="4650" spc="35">
                <a:solidFill>
                  <a:srgbClr val="0E2450"/>
                </a:solidFill>
              </a:rPr>
              <a:t> </a:t>
            </a:r>
            <a:r>
              <a:rPr dirty="0" sz="4650" spc="100">
                <a:solidFill>
                  <a:srgbClr val="112A52"/>
                </a:solidFill>
              </a:rPr>
              <a:t>des</a:t>
            </a:r>
            <a:r>
              <a:rPr dirty="0" sz="4650" spc="-290">
                <a:solidFill>
                  <a:srgbClr val="112A52"/>
                </a:solidFill>
              </a:rPr>
              <a:t> </a:t>
            </a:r>
            <a:r>
              <a:rPr dirty="0" sz="4650" spc="70">
                <a:solidFill>
                  <a:srgbClr val="0F2149"/>
                </a:solidFill>
              </a:rPr>
              <a:t>Paramètres</a:t>
            </a:r>
            <a:r>
              <a:rPr dirty="0" sz="4650" spc="-5">
                <a:solidFill>
                  <a:srgbClr val="0F2149"/>
                </a:solidFill>
              </a:rPr>
              <a:t> </a:t>
            </a:r>
            <a:r>
              <a:rPr dirty="0" sz="4650" spc="85">
                <a:solidFill>
                  <a:srgbClr val="0C234B"/>
                </a:solidFill>
              </a:rPr>
              <a:t>Techniques</a:t>
            </a:r>
            <a:endParaRPr sz="4650"/>
          </a:p>
        </p:txBody>
      </p:sp>
      <p:sp>
        <p:nvSpPr>
          <p:cNvPr id="4" name="object 4" descr=""/>
          <p:cNvSpPr txBox="1"/>
          <p:nvPr/>
        </p:nvSpPr>
        <p:spPr>
          <a:xfrm>
            <a:off x="2617103" y="2522645"/>
            <a:ext cx="3208020" cy="100203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735"/>
              </a:spcBef>
            </a:pPr>
            <a:r>
              <a:rPr dirty="0" sz="2950" spc="-30">
                <a:solidFill>
                  <a:srgbClr val="05152D"/>
                </a:solidFill>
                <a:latin typeface="Arial MT"/>
                <a:cs typeface="Arial MT"/>
              </a:rPr>
              <a:t>Tension</a:t>
            </a:r>
            <a:r>
              <a:rPr dirty="0" sz="2950" spc="-165">
                <a:solidFill>
                  <a:srgbClr val="05152D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011128"/>
                </a:solidFill>
                <a:latin typeface="Arial MT"/>
                <a:cs typeface="Arial MT"/>
              </a:rPr>
              <a:t>(kV)</a:t>
            </a: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500" spc="-75">
                <a:latin typeface="Arial MT"/>
                <a:cs typeface="Arial MT"/>
              </a:rPr>
              <a:t>Pénétration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du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95">
                <a:latin typeface="Arial MT"/>
                <a:cs typeface="Arial MT"/>
              </a:rPr>
              <a:t>faisceau.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18464" y="4962794"/>
            <a:ext cx="2715260" cy="98425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869"/>
              </a:spcBef>
            </a:pPr>
            <a:r>
              <a:rPr dirty="0" sz="2750" spc="55">
                <a:solidFill>
                  <a:srgbClr val="05132D"/>
                </a:solidFill>
                <a:latin typeface="Arial MT"/>
                <a:cs typeface="Arial MT"/>
              </a:rPr>
              <a:t>Géométrie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350">
                <a:latin typeface="Arial MT"/>
                <a:cs typeface="Arial MT"/>
              </a:rPr>
              <a:t>Pitch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et</a:t>
            </a:r>
            <a:r>
              <a:rPr dirty="0" sz="2350" spc="18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Collimation.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76956" y="1396647"/>
            <a:ext cx="510540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55">
                <a:solidFill>
                  <a:srgbClr val="132F56"/>
                </a:solidFill>
                <a:latin typeface="Arial MT"/>
                <a:cs typeface="Arial MT"/>
              </a:rPr>
              <a:t>Deconstructing</a:t>
            </a:r>
            <a:r>
              <a:rPr dirty="0" sz="3400" spc="-90">
                <a:solidFill>
                  <a:srgbClr val="132F56"/>
                </a:solidFill>
                <a:latin typeface="Arial MT"/>
                <a:cs typeface="Arial MT"/>
              </a:rPr>
              <a:t> </a:t>
            </a:r>
            <a:r>
              <a:rPr dirty="0" sz="3400" spc="150">
                <a:solidFill>
                  <a:srgbClr val="163159"/>
                </a:solidFill>
                <a:latin typeface="Arial MT"/>
                <a:cs typeface="Arial MT"/>
              </a:rPr>
              <a:t>the</a:t>
            </a:r>
            <a:r>
              <a:rPr dirty="0" sz="3400" spc="85">
                <a:solidFill>
                  <a:srgbClr val="163159"/>
                </a:solidFill>
                <a:latin typeface="Arial MT"/>
                <a:cs typeface="Arial MT"/>
              </a:rPr>
              <a:t> </a:t>
            </a:r>
            <a:r>
              <a:rPr dirty="0" sz="3400" spc="30">
                <a:solidFill>
                  <a:srgbClr val="132F56"/>
                </a:solidFill>
                <a:latin typeface="Arial MT"/>
                <a:cs typeface="Arial MT"/>
              </a:rPr>
              <a:t>Scan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98676" y="4334227"/>
            <a:ext cx="2236470" cy="103631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3845"/>
              </a:lnSpc>
              <a:spcBef>
                <a:spcPts val="120"/>
              </a:spcBef>
            </a:pPr>
            <a:r>
              <a:rPr dirty="0" sz="3450" spc="-35">
                <a:solidFill>
                  <a:srgbClr val="051634"/>
                </a:solidFill>
                <a:latin typeface="Arial MT"/>
                <a:cs typeface="Arial MT"/>
              </a:rPr>
              <a:t>Paramètres</a:t>
            </a:r>
            <a:endParaRPr sz="3450">
              <a:latin typeface="Arial MT"/>
              <a:cs typeface="Arial MT"/>
            </a:endParaRPr>
          </a:p>
          <a:p>
            <a:pPr algn="ctr" marL="14604">
              <a:lnSpc>
                <a:spcPts val="4085"/>
              </a:lnSpc>
            </a:pPr>
            <a:r>
              <a:rPr dirty="0" sz="3650" spc="-345">
                <a:solidFill>
                  <a:srgbClr val="05183B"/>
                </a:solidFill>
                <a:latin typeface="Arial MT"/>
                <a:cs typeface="Arial MT"/>
              </a:rPr>
              <a:t>à</a:t>
            </a:r>
            <a:r>
              <a:rPr dirty="0" sz="3650" spc="-220">
                <a:solidFill>
                  <a:srgbClr val="05183B"/>
                </a:solidFill>
                <a:latin typeface="Arial MT"/>
                <a:cs typeface="Arial MT"/>
              </a:rPr>
              <a:t> </a:t>
            </a:r>
            <a:r>
              <a:rPr dirty="0" sz="3650" spc="-10">
                <a:solidFill>
                  <a:srgbClr val="071633"/>
                </a:solidFill>
                <a:latin typeface="Arial MT"/>
                <a:cs typeface="Arial MT"/>
              </a:rPr>
              <a:t>l'Etude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253922" y="2537094"/>
            <a:ext cx="2956560" cy="98425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2750">
                <a:solidFill>
                  <a:srgbClr val="0C213B"/>
                </a:solidFill>
                <a:latin typeface="Arial MT"/>
                <a:cs typeface="Arial MT"/>
              </a:rPr>
              <a:t>Charge</a:t>
            </a:r>
            <a:r>
              <a:rPr dirty="0" sz="2750" spc="360">
                <a:solidFill>
                  <a:srgbClr val="0C213B"/>
                </a:solidFill>
                <a:latin typeface="Arial MT"/>
                <a:cs typeface="Arial MT"/>
              </a:rPr>
              <a:t> </a:t>
            </a:r>
            <a:r>
              <a:rPr dirty="0" sz="2750" spc="45">
                <a:solidFill>
                  <a:srgbClr val="05112B"/>
                </a:solidFill>
                <a:latin typeface="Arial MT"/>
                <a:cs typeface="Arial MT"/>
              </a:rPr>
              <a:t>(mAs)</a:t>
            </a:r>
            <a:endParaRPr sz="2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650"/>
              </a:spcBef>
            </a:pPr>
            <a:r>
              <a:rPr dirty="0" sz="2350">
                <a:latin typeface="Arial MT"/>
                <a:cs typeface="Arial MT"/>
              </a:rPr>
              <a:t>Quantité</a:t>
            </a:r>
            <a:r>
              <a:rPr dirty="0" sz="2350" spc="19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de</a:t>
            </a:r>
            <a:r>
              <a:rPr dirty="0" sz="2350" spc="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rayons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X.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259244" y="4703938"/>
            <a:ext cx="3222625" cy="15982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459"/>
              </a:spcBef>
            </a:pPr>
            <a:r>
              <a:rPr dirty="0" sz="2750" spc="40">
                <a:solidFill>
                  <a:srgbClr val="0C1A38"/>
                </a:solidFill>
                <a:latin typeface="Arial MT"/>
                <a:cs typeface="Arial MT"/>
              </a:rPr>
              <a:t>Technologies</a:t>
            </a: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2350" spc="260">
                <a:solidFill>
                  <a:srgbClr val="07152F"/>
                </a:solidFill>
                <a:latin typeface="Arial MT"/>
                <a:cs typeface="Arial MT"/>
              </a:rPr>
              <a:t>Avancées</a:t>
            </a:r>
            <a:endParaRPr sz="2350">
              <a:latin typeface="Arial MT"/>
              <a:cs typeface="Arial MT"/>
            </a:endParaRPr>
          </a:p>
          <a:p>
            <a:pPr marL="14604" marR="5080" indent="635">
              <a:lnSpc>
                <a:spcPts val="2700"/>
              </a:lnSpc>
              <a:spcBef>
                <a:spcPts val="270"/>
              </a:spcBef>
            </a:pPr>
            <a:r>
              <a:rPr dirty="0" sz="2350">
                <a:latin typeface="Arial MT"/>
                <a:cs typeface="Arial MT"/>
              </a:rPr>
              <a:t>Modulation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automatique </a:t>
            </a:r>
            <a:r>
              <a:rPr dirty="0" sz="2350">
                <a:latin typeface="Arial MT"/>
                <a:cs typeface="Arial MT"/>
              </a:rPr>
              <a:t>de</a:t>
            </a:r>
            <a:r>
              <a:rPr dirty="0" sz="2350" spc="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dose.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76844" y="7215830"/>
            <a:ext cx="16235680" cy="246126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7012940" marR="6119495" indent="-8255">
              <a:lnSpc>
                <a:spcPct val="103600"/>
              </a:lnSpc>
              <a:spcBef>
                <a:spcPts val="359"/>
              </a:spcBef>
            </a:pPr>
            <a:r>
              <a:rPr dirty="0" sz="2850">
                <a:solidFill>
                  <a:srgbClr val="08132B"/>
                </a:solidFill>
                <a:latin typeface="Arial MT"/>
                <a:cs typeface="Arial MT"/>
              </a:rPr>
              <a:t>Facteur</a:t>
            </a:r>
            <a:r>
              <a:rPr dirty="0" sz="2850" spc="60">
                <a:solidFill>
                  <a:srgbClr val="08132B"/>
                </a:solidFill>
                <a:latin typeface="Arial MT"/>
                <a:cs typeface="Arial MT"/>
              </a:rPr>
              <a:t> </a:t>
            </a:r>
            <a:r>
              <a:rPr dirty="0" sz="2850" spc="-10">
                <a:solidFill>
                  <a:srgbClr val="030F28"/>
                </a:solidFill>
                <a:latin typeface="Arial MT"/>
                <a:cs typeface="Arial MT"/>
              </a:rPr>
              <a:t>Humain </a:t>
            </a:r>
            <a:r>
              <a:rPr dirty="0" sz="2350">
                <a:latin typeface="Arial MT"/>
                <a:cs typeface="Arial MT"/>
              </a:rPr>
              <a:t>Longueur</a:t>
            </a:r>
            <a:r>
              <a:rPr dirty="0" sz="2350" spc="16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d'exploration </a:t>
            </a:r>
            <a:r>
              <a:rPr dirty="0" sz="2350">
                <a:latin typeface="Arial MT"/>
                <a:cs typeface="Arial MT"/>
              </a:rPr>
              <a:t>(Scan</a:t>
            </a:r>
            <a:r>
              <a:rPr dirty="0" sz="2350" spc="-16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range).</a:t>
            </a:r>
            <a:endParaRPr sz="2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2350">
              <a:latin typeface="Arial MT"/>
              <a:cs typeface="Arial MT"/>
            </a:endParaRPr>
          </a:p>
          <a:p>
            <a:pPr marL="12700">
              <a:lnSpc>
                <a:spcPts val="3065"/>
              </a:lnSpc>
              <a:tabLst>
                <a:tab pos="13206094" algn="l"/>
                <a:tab pos="15870555" algn="l"/>
              </a:tabLst>
            </a:pPr>
            <a:r>
              <a:rPr dirty="0" sz="2900" spc="85">
                <a:solidFill>
                  <a:srgbClr val="051634"/>
                </a:solidFill>
                <a:latin typeface="Arial MT"/>
                <a:cs typeface="Arial MT"/>
              </a:rPr>
              <a:t>Approche</a:t>
            </a:r>
            <a:r>
              <a:rPr dirty="0" sz="2900" spc="-125">
                <a:solidFill>
                  <a:srgbClr val="051634"/>
                </a:solidFill>
                <a:latin typeface="Arial MT"/>
                <a:cs typeface="Arial MT"/>
              </a:rPr>
              <a:t> </a:t>
            </a:r>
            <a:r>
              <a:rPr dirty="0" sz="2900" spc="55">
                <a:solidFill>
                  <a:srgbClr val="0A1531"/>
                </a:solidFill>
                <a:latin typeface="Arial MT"/>
                <a:cs typeface="Arial MT"/>
              </a:rPr>
              <a:t>:</a:t>
            </a:r>
            <a:r>
              <a:rPr dirty="0" sz="2900" spc="80">
                <a:solidFill>
                  <a:srgbClr val="0A1531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A0A0A"/>
                </a:solidFill>
                <a:latin typeface="Arial MT"/>
                <a:cs typeface="Arial MT"/>
              </a:rPr>
              <a:t>Analyse</a:t>
            </a:r>
            <a:r>
              <a:rPr dirty="0" sz="2900" spc="20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E0E0E"/>
                </a:solidFill>
                <a:latin typeface="Arial MT"/>
                <a:cs typeface="Arial MT"/>
              </a:rPr>
              <a:t>descriptive</a:t>
            </a:r>
            <a:r>
              <a:rPr dirty="0" sz="2900" spc="204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0013"/>
                </a:solidFill>
                <a:latin typeface="Arial MT"/>
                <a:cs typeface="Arial MT"/>
              </a:rPr>
              <a:t>et</a:t>
            </a:r>
            <a:r>
              <a:rPr dirty="0" sz="2900" spc="80">
                <a:solidFill>
                  <a:srgbClr val="000013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A0A0A"/>
                </a:solidFill>
                <a:latin typeface="Arial MT"/>
                <a:cs typeface="Arial MT"/>
              </a:rPr>
              <a:t>comparative</a:t>
            </a:r>
            <a:r>
              <a:rPr dirty="0" sz="2900" spc="25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A0A0A"/>
                </a:solidFill>
                <a:latin typeface="Arial MT"/>
                <a:cs typeface="Arial MT"/>
              </a:rPr>
              <a:t>pour</a:t>
            </a:r>
            <a:r>
              <a:rPr dirty="0" sz="2900" spc="23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80808"/>
                </a:solidFill>
                <a:latin typeface="Arial MT"/>
                <a:cs typeface="Arial MT"/>
              </a:rPr>
              <a:t>lier</a:t>
            </a:r>
            <a:r>
              <a:rPr dirty="0" sz="2900" spc="19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A0A0A"/>
                </a:solidFill>
                <a:latin typeface="Arial MT"/>
                <a:cs typeface="Arial MT"/>
              </a:rPr>
              <a:t>la</a:t>
            </a:r>
            <a:r>
              <a:rPr dirty="0" sz="2900" spc="9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C0C0C"/>
                </a:solidFill>
                <a:latin typeface="Arial MT"/>
                <a:cs typeface="Arial MT"/>
              </a:rPr>
              <a:t>cause</a:t>
            </a:r>
            <a:r>
              <a:rPr dirty="0" sz="2900" spc="2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(paramètres)</a:t>
            </a:r>
            <a:r>
              <a:rPr dirty="0" sz="2900">
                <a:latin typeface="Arial MT"/>
                <a:cs typeface="Arial MT"/>
              </a:rPr>
              <a:t>	</a:t>
            </a:r>
            <a:r>
              <a:rPr dirty="0" sz="2900" spc="-260">
                <a:solidFill>
                  <a:srgbClr val="000513"/>
                </a:solidFill>
                <a:latin typeface="Arial MT"/>
                <a:cs typeface="Arial MT"/>
              </a:rPr>
              <a:t>à</a:t>
            </a:r>
            <a:r>
              <a:rPr dirty="0" sz="2900" spc="165">
                <a:solidFill>
                  <a:srgbClr val="000513"/>
                </a:solidFill>
                <a:latin typeface="Arial MT"/>
                <a:cs typeface="Arial MT"/>
              </a:rPr>
              <a:t> </a:t>
            </a:r>
            <a:r>
              <a:rPr dirty="0" sz="2900" spc="50">
                <a:solidFill>
                  <a:srgbClr val="030303"/>
                </a:solidFill>
                <a:latin typeface="Arial MT"/>
                <a:cs typeface="Arial MT"/>
              </a:rPr>
              <a:t>l'effet</a:t>
            </a:r>
            <a:r>
              <a:rPr dirty="0" sz="2900" spc="24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(doSe)j</a:t>
            </a:r>
            <a:r>
              <a:rPr dirty="0" sz="2900">
                <a:latin typeface="Arial MT"/>
                <a:cs typeface="Arial MT"/>
              </a:rPr>
              <a:t>	</a:t>
            </a:r>
            <a:r>
              <a:rPr dirty="0" sz="2900" spc="-30">
                <a:latin typeface="Arial MT"/>
                <a:cs typeface="Arial MT"/>
              </a:rPr>
              <a:t>„„„</a:t>
            </a:r>
            <a:endParaRPr sz="2900">
              <a:latin typeface="Arial MT"/>
              <a:cs typeface="Arial MT"/>
            </a:endParaRPr>
          </a:p>
          <a:p>
            <a:pPr algn="r" marR="356870">
              <a:lnSpc>
                <a:spcPts val="1625"/>
              </a:lnSpc>
            </a:pPr>
            <a:r>
              <a:rPr dirty="0" sz="1700" spc="-25">
                <a:latin typeface="Arial MT"/>
                <a:cs typeface="Arial MT"/>
              </a:rPr>
              <a:t>te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902200" y="1993900"/>
            <a:ext cx="7785100" cy="5499100"/>
            <a:chOff x="4902200" y="1993900"/>
            <a:chExt cx="7785100" cy="54991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2200" y="1993900"/>
              <a:ext cx="7785100" cy="54991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1900" y="3073400"/>
              <a:ext cx="838200" cy="190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629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30"/>
              </a:spcBef>
            </a:pPr>
            <a:r>
              <a:rPr dirty="0" sz="4550">
                <a:solidFill>
                  <a:srgbClr val="13345B"/>
                </a:solidFill>
              </a:rPr>
              <a:t>Résultats</a:t>
            </a:r>
            <a:r>
              <a:rPr dirty="0" sz="4550" spc="20">
                <a:solidFill>
                  <a:srgbClr val="13345B"/>
                </a:solidFill>
              </a:rPr>
              <a:t> </a:t>
            </a:r>
            <a:r>
              <a:rPr dirty="0" sz="4550">
                <a:solidFill>
                  <a:srgbClr val="133460"/>
                </a:solidFill>
              </a:rPr>
              <a:t>Attendus</a:t>
            </a:r>
            <a:r>
              <a:rPr dirty="0" sz="4550" spc="-290">
                <a:solidFill>
                  <a:srgbClr val="133460"/>
                </a:solidFill>
              </a:rPr>
              <a:t> </a:t>
            </a:r>
            <a:r>
              <a:rPr dirty="0" sz="4550">
                <a:solidFill>
                  <a:srgbClr val="11335B"/>
                </a:solidFill>
              </a:rPr>
              <a:t>:</a:t>
            </a:r>
            <a:r>
              <a:rPr dirty="0" sz="4550" spc="-265">
                <a:solidFill>
                  <a:srgbClr val="11335B"/>
                </a:solidFill>
              </a:rPr>
              <a:t> </a:t>
            </a:r>
            <a:r>
              <a:rPr dirty="0" sz="4550">
                <a:solidFill>
                  <a:srgbClr val="163660"/>
                </a:solidFill>
              </a:rPr>
              <a:t>Évaluation</a:t>
            </a:r>
            <a:r>
              <a:rPr dirty="0" sz="4550" spc="100">
                <a:solidFill>
                  <a:srgbClr val="163660"/>
                </a:solidFill>
              </a:rPr>
              <a:t> </a:t>
            </a:r>
            <a:r>
              <a:rPr dirty="0" sz="4550">
                <a:solidFill>
                  <a:srgbClr val="16365E"/>
                </a:solidFill>
              </a:rPr>
              <a:t>de</a:t>
            </a:r>
            <a:r>
              <a:rPr dirty="0" sz="4550" spc="-300">
                <a:solidFill>
                  <a:srgbClr val="16365E"/>
                </a:solidFill>
              </a:rPr>
              <a:t> </a:t>
            </a:r>
            <a:r>
              <a:rPr dirty="0" sz="4550">
                <a:solidFill>
                  <a:srgbClr val="13345B"/>
                </a:solidFill>
              </a:rPr>
              <a:t>la</a:t>
            </a:r>
            <a:r>
              <a:rPr dirty="0" sz="4550" spc="-285">
                <a:solidFill>
                  <a:srgbClr val="13345B"/>
                </a:solidFill>
              </a:rPr>
              <a:t> </a:t>
            </a:r>
            <a:r>
              <a:rPr dirty="0" sz="4550" spc="-10">
                <a:solidFill>
                  <a:srgbClr val="113157"/>
                </a:solidFill>
              </a:rPr>
              <a:t>Conformité</a:t>
            </a:r>
            <a:endParaRPr sz="4550"/>
          </a:p>
        </p:txBody>
      </p:sp>
      <p:sp>
        <p:nvSpPr>
          <p:cNvPr id="6" name="object 6" descr=""/>
          <p:cNvSpPr txBox="1"/>
          <p:nvPr/>
        </p:nvSpPr>
        <p:spPr>
          <a:xfrm>
            <a:off x="851985" y="2420055"/>
            <a:ext cx="3291204" cy="3818254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8415" marR="5080" indent="-1270">
              <a:lnSpc>
                <a:spcPct val="93900"/>
              </a:lnSpc>
              <a:spcBef>
                <a:spcPts val="325"/>
              </a:spcBef>
            </a:pPr>
            <a:r>
              <a:rPr dirty="0" sz="3200" spc="-105">
                <a:solidFill>
                  <a:srgbClr val="0C233B"/>
                </a:solidFill>
                <a:latin typeface="Arial MT"/>
                <a:cs typeface="Arial MT"/>
              </a:rPr>
              <a:t>Radiology</a:t>
            </a:r>
            <a:r>
              <a:rPr dirty="0" sz="3200" spc="-90">
                <a:solidFill>
                  <a:srgbClr val="0C233B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132F52"/>
                </a:solidFill>
                <a:latin typeface="Arial MT"/>
                <a:cs typeface="Arial MT"/>
              </a:rPr>
              <a:t>Navy </a:t>
            </a:r>
            <a:r>
              <a:rPr dirty="0" sz="3250" spc="-55">
                <a:latin typeface="Arial MT"/>
                <a:cs typeface="Arial MT"/>
              </a:rPr>
              <a:t>Livrable</a:t>
            </a:r>
            <a:r>
              <a:rPr dirty="0" sz="3250" spc="-370">
                <a:latin typeface="Arial MT"/>
                <a:cs typeface="Arial MT"/>
              </a:rPr>
              <a:t> </a:t>
            </a:r>
            <a:r>
              <a:rPr dirty="0" sz="3250" spc="-60">
                <a:latin typeface="Arial MT"/>
                <a:cs typeface="Arial MT"/>
              </a:rPr>
              <a:t>1</a:t>
            </a:r>
            <a:r>
              <a:rPr dirty="0" sz="3250" spc="-475">
                <a:latin typeface="Arial MT"/>
                <a:cs typeface="Arial MT"/>
              </a:rPr>
              <a:t> </a:t>
            </a:r>
            <a:r>
              <a:rPr dirty="0" sz="3250" spc="-50">
                <a:latin typeface="Arial MT"/>
                <a:cs typeface="Arial MT"/>
              </a:rPr>
              <a:t>: </a:t>
            </a:r>
            <a:r>
              <a:rPr dirty="0" sz="3050" spc="50">
                <a:latin typeface="Arial MT"/>
                <a:cs typeface="Arial MT"/>
              </a:rPr>
              <a:t>Détermination</a:t>
            </a:r>
            <a:r>
              <a:rPr dirty="0" sz="3050" spc="55">
                <a:latin typeface="Arial MT"/>
                <a:cs typeface="Arial MT"/>
              </a:rPr>
              <a:t> </a:t>
            </a:r>
            <a:r>
              <a:rPr dirty="0" sz="3050" spc="-25">
                <a:latin typeface="Arial MT"/>
                <a:cs typeface="Arial MT"/>
              </a:rPr>
              <a:t>des </a:t>
            </a:r>
            <a:r>
              <a:rPr dirty="0" sz="3200" spc="-355">
                <a:latin typeface="Arial MT"/>
                <a:cs typeface="Arial MT"/>
              </a:rPr>
              <a:t>NRD</a:t>
            </a:r>
            <a:r>
              <a:rPr dirty="0" sz="3200" spc="-1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Locaux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479"/>
              </a:lnSpc>
            </a:pPr>
            <a:r>
              <a:rPr dirty="0" sz="3100" spc="-10">
                <a:latin typeface="Arial MT"/>
                <a:cs typeface="Arial MT"/>
              </a:rPr>
              <a:t>Inter</a:t>
            </a:r>
            <a:endParaRPr sz="3100">
              <a:latin typeface="Arial MT"/>
              <a:cs typeface="Arial MT"/>
            </a:endParaRPr>
          </a:p>
          <a:p>
            <a:pPr algn="just" marL="21590" marR="6985" indent="-3175">
              <a:lnSpc>
                <a:spcPct val="74100"/>
              </a:lnSpc>
              <a:spcBef>
                <a:spcPts val="1720"/>
              </a:spcBef>
            </a:pPr>
            <a:r>
              <a:rPr dirty="0" sz="2850" spc="-280">
                <a:latin typeface="Arial MT"/>
                <a:cs typeface="Arial MT"/>
              </a:rPr>
              <a:t>Calcul</a:t>
            </a:r>
            <a:r>
              <a:rPr dirty="0" sz="2850" spc="75">
                <a:latin typeface="Arial MT"/>
                <a:cs typeface="Arial MT"/>
              </a:rPr>
              <a:t> </a:t>
            </a:r>
            <a:r>
              <a:rPr dirty="0" sz="2850" spc="-385">
                <a:latin typeface="Arial MT"/>
                <a:cs typeface="Arial MT"/>
              </a:rPr>
              <a:t>des</a:t>
            </a:r>
            <a:r>
              <a:rPr dirty="0" sz="2850" spc="185">
                <a:latin typeface="Arial MT"/>
                <a:cs typeface="Arial MT"/>
              </a:rPr>
              <a:t> </a:t>
            </a:r>
            <a:r>
              <a:rPr dirty="0" sz="2850" spc="-705">
                <a:latin typeface="Arial MT"/>
                <a:cs typeface="Arial MT"/>
              </a:rPr>
              <a:t>NRD</a:t>
            </a:r>
            <a:r>
              <a:rPr dirty="0" sz="2850" spc="509">
                <a:latin typeface="Arial MT"/>
                <a:cs typeface="Arial MT"/>
              </a:rPr>
              <a:t> </a:t>
            </a:r>
            <a:r>
              <a:rPr dirty="0" sz="2850" spc="-285">
                <a:latin typeface="Arial MT"/>
                <a:cs typeface="Arial MT"/>
              </a:rPr>
              <a:t>pour</a:t>
            </a:r>
            <a:r>
              <a:rPr dirty="0" sz="2850" spc="135">
                <a:latin typeface="Arial MT"/>
                <a:cs typeface="Arial MT"/>
              </a:rPr>
              <a:t> </a:t>
            </a:r>
            <a:r>
              <a:rPr dirty="0" sz="2850" spc="-155">
                <a:latin typeface="Arial MT"/>
                <a:cs typeface="Arial MT"/>
              </a:rPr>
              <a:t>les </a:t>
            </a:r>
            <a:r>
              <a:rPr dirty="0" sz="2850" spc="-355">
                <a:latin typeface="Arial MT"/>
                <a:cs typeface="Arial MT"/>
              </a:rPr>
              <a:t>examens</a:t>
            </a:r>
            <a:r>
              <a:rPr dirty="0" sz="2850" spc="160">
                <a:latin typeface="Arial MT"/>
                <a:cs typeface="Arial MT"/>
              </a:rPr>
              <a:t> </a:t>
            </a:r>
            <a:r>
              <a:rPr dirty="0" sz="2850" spc="-229">
                <a:latin typeface="Arial MT"/>
                <a:cs typeface="Arial MT"/>
              </a:rPr>
              <a:t>clés</a:t>
            </a:r>
            <a:r>
              <a:rPr dirty="0" sz="2850" spc="95">
                <a:latin typeface="Arial MT"/>
                <a:cs typeface="Arial MT"/>
              </a:rPr>
              <a:t> </a:t>
            </a:r>
            <a:r>
              <a:rPr dirty="0" sz="2850" spc="-270">
                <a:latin typeface="Arial MT"/>
                <a:cs typeface="Arial MT"/>
              </a:rPr>
              <a:t>(Cérébral, </a:t>
            </a:r>
            <a:r>
              <a:rPr dirty="0" sz="2850" spc="-265">
                <a:latin typeface="Arial MT"/>
                <a:cs typeface="Arial MT"/>
              </a:rPr>
              <a:t>Thoracique,</a:t>
            </a:r>
            <a:r>
              <a:rPr dirty="0" sz="2850" spc="260">
                <a:latin typeface="Arial MT"/>
                <a:cs typeface="Arial MT"/>
              </a:rPr>
              <a:t> </a:t>
            </a:r>
            <a:r>
              <a:rPr dirty="0" sz="2850" spc="-290">
                <a:latin typeface="Arial MT"/>
                <a:cs typeface="Arial MT"/>
              </a:rPr>
              <a:t>Abdominal, </a:t>
            </a:r>
            <a:r>
              <a:rPr dirty="0" sz="2850" spc="-140">
                <a:latin typeface="Arial MT"/>
                <a:cs typeface="Arial MT"/>
              </a:rPr>
              <a:t>Pelvien).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06619" y="3615266"/>
            <a:ext cx="109410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75">
                <a:latin typeface="Arial MT"/>
                <a:cs typeface="Arial MT"/>
              </a:rPr>
              <a:t>Conforme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17354" y="3716866"/>
            <a:ext cx="178435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120">
                <a:solidFill>
                  <a:srgbClr val="747474"/>
                </a:solidFill>
                <a:latin typeface="Arial MT"/>
                <a:cs typeface="Arial MT"/>
              </a:rPr>
              <a:t>do</a:t>
            </a:r>
            <a:r>
              <a:rPr dirty="0" sz="2050" spc="235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747474"/>
                </a:solidFill>
                <a:latin typeface="Arial MT"/>
                <a:cs typeface="Arial MT"/>
              </a:rPr>
              <a:t>me</a:t>
            </a:r>
            <a:r>
              <a:rPr dirty="0" sz="2050" spc="6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dirty="0" sz="2050" spc="-40">
                <a:solidFill>
                  <a:srgbClr val="6E6E6E"/>
                </a:solidFill>
                <a:latin typeface="Arial MT"/>
                <a:cs typeface="Arial MT"/>
              </a:rPr>
              <a:t>NRD</a:t>
            </a:r>
            <a:r>
              <a:rPr dirty="0" sz="2050" spc="225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858585"/>
                </a:solidFill>
                <a:latin typeface="Arial MT"/>
                <a:cs typeface="Arial MT"/>
              </a:rPr>
              <a:t>—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51905" y="4222044"/>
            <a:ext cx="877569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25">
                <a:latin typeface="Arial MT"/>
                <a:cs typeface="Arial MT"/>
              </a:rPr>
              <a:t>850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 spc="-130">
                <a:latin typeface="Arial MT"/>
                <a:cs typeface="Arial MT"/>
              </a:rPr>
              <a:t>mGy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30702" y="7487708"/>
            <a:ext cx="104076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100">
                <a:latin typeface="Arial MT"/>
                <a:cs typeface="Arial MT"/>
              </a:rPr>
              <a:t>Cérébral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24874" y="2412647"/>
            <a:ext cx="2311400" cy="624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65"/>
              </a:lnSpc>
              <a:spcBef>
                <a:spcPts val="100"/>
              </a:spcBef>
            </a:pPr>
            <a:r>
              <a:rPr dirty="0" sz="2150" spc="-114">
                <a:latin typeface="Arial MT"/>
                <a:cs typeface="Arial MT"/>
              </a:rPr>
              <a:t>Non-</a:t>
            </a:r>
            <a:r>
              <a:rPr dirty="0" sz="2150" spc="-10">
                <a:latin typeface="Arial MT"/>
                <a:cs typeface="Arial MT"/>
              </a:rPr>
              <a:t>Conforme</a:t>
            </a:r>
            <a:endParaRPr sz="2150">
              <a:latin typeface="Arial MT"/>
              <a:cs typeface="Arial MT"/>
            </a:endParaRPr>
          </a:p>
          <a:p>
            <a:pPr marL="1329055">
              <a:lnSpc>
                <a:spcPts val="2145"/>
              </a:lnSpc>
            </a:pPr>
            <a:r>
              <a:rPr dirty="0" sz="1800" spc="-50">
                <a:latin typeface="Arial MT"/>
                <a:cs typeface="Arial MT"/>
              </a:rPr>
              <a:t>1200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120">
                <a:latin typeface="Arial MT"/>
                <a:cs typeface="Arial MT"/>
              </a:rPr>
              <a:t>mGy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152920" y="5227515"/>
            <a:ext cx="1948180" cy="84455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2050" spc="-10">
                <a:latin typeface="Arial MT"/>
                <a:cs typeface="Arial MT"/>
              </a:rPr>
              <a:t>Conforme</a:t>
            </a:r>
            <a:endParaRPr sz="2050">
              <a:latin typeface="Arial MT"/>
              <a:cs typeface="Arial MT"/>
            </a:endParaRPr>
          </a:p>
          <a:p>
            <a:pPr marL="107696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latin typeface="Arial MT"/>
                <a:cs typeface="Arial MT"/>
              </a:rPr>
              <a:t>400</a:t>
            </a:r>
            <a:r>
              <a:rPr dirty="0" sz="1800" spc="-130">
                <a:latin typeface="Arial MT"/>
                <a:cs typeface="Arial MT"/>
              </a:rPr>
              <a:t> mGy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64530" y="7328958"/>
            <a:ext cx="1718310" cy="104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1640">
              <a:lnSpc>
                <a:spcPct val="144900"/>
              </a:lnSpc>
              <a:spcBef>
                <a:spcPts val="100"/>
              </a:spcBef>
            </a:pPr>
            <a:r>
              <a:rPr dirty="0" sz="2300" spc="-10">
                <a:latin typeface="Arial MT"/>
                <a:cs typeface="Arial MT"/>
              </a:rPr>
              <a:t>Thorax </a:t>
            </a:r>
            <a:r>
              <a:rPr dirty="0" sz="2300" spc="-290">
                <a:latin typeface="Arial MT"/>
                <a:cs typeface="Arial MT"/>
              </a:rPr>
              <a:t>NRD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0">
                <a:latin typeface="Arial MT"/>
                <a:cs typeface="Arial MT"/>
              </a:rPr>
              <a:t>Standard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74715" y="7496527"/>
            <a:ext cx="117284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55">
                <a:latin typeface="Arial MT"/>
                <a:cs typeface="Arial MT"/>
              </a:rPr>
              <a:t>Abdomen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4131" y="9036402"/>
            <a:ext cx="1208214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280">
                <a:latin typeface="Arial MT"/>
                <a:cs typeface="Arial MT"/>
              </a:rPr>
              <a:t>Approche</a:t>
            </a:r>
            <a:r>
              <a:rPr dirty="0" sz="2850" spc="-70">
                <a:latin typeface="Arial MT"/>
                <a:cs typeface="Arial MT"/>
              </a:rPr>
              <a:t> </a:t>
            </a:r>
            <a:r>
              <a:rPr dirty="0" sz="2850">
                <a:solidFill>
                  <a:srgbClr val="0C0C0C"/>
                </a:solidFill>
                <a:latin typeface="Arial MT"/>
                <a:cs typeface="Arial MT"/>
              </a:rPr>
              <a:t>:</a:t>
            </a:r>
            <a:r>
              <a:rPr dirty="0" sz="2850" spc="-2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850" spc="-310">
                <a:latin typeface="Arial MT"/>
                <a:cs typeface="Arial MT"/>
              </a:rPr>
              <a:t>Analyse</a:t>
            </a:r>
            <a:r>
              <a:rPr dirty="0" sz="2850" spc="-5">
                <a:latin typeface="Arial MT"/>
                <a:cs typeface="Arial MT"/>
              </a:rPr>
              <a:t> </a:t>
            </a:r>
            <a:r>
              <a:rPr dirty="0" sz="2850" spc="-245">
                <a:latin typeface="Arial MT"/>
                <a:cs typeface="Arial MT"/>
              </a:rPr>
              <a:t>comparative</a:t>
            </a:r>
            <a:r>
              <a:rPr dirty="0" sz="2850" spc="90">
                <a:latin typeface="Arial MT"/>
                <a:cs typeface="Arial MT"/>
              </a:rPr>
              <a:t> </a:t>
            </a:r>
            <a:r>
              <a:rPr dirty="0" sz="2850" spc="-275">
                <a:latin typeface="Arial MT"/>
                <a:cs typeface="Arial MT"/>
              </a:rPr>
              <a:t>par</a:t>
            </a:r>
            <a:r>
              <a:rPr dirty="0" sz="2850" spc="-25">
                <a:latin typeface="Arial MT"/>
                <a:cs typeface="Arial MT"/>
              </a:rPr>
              <a:t> </a:t>
            </a:r>
            <a:r>
              <a:rPr dirty="0" sz="2850" spc="-195">
                <a:latin typeface="Arial MT"/>
                <a:cs typeface="Arial MT"/>
              </a:rPr>
              <a:t>rapport</a:t>
            </a:r>
            <a:r>
              <a:rPr dirty="0" sz="2850" spc="120">
                <a:latin typeface="Arial MT"/>
                <a:cs typeface="Arial MT"/>
              </a:rPr>
              <a:t> </a:t>
            </a:r>
            <a:r>
              <a:rPr dirty="0" sz="2850" spc="-340">
                <a:latin typeface="Arial MT"/>
                <a:cs typeface="Arial MT"/>
              </a:rPr>
              <a:t>aux</a:t>
            </a:r>
            <a:r>
              <a:rPr dirty="0" sz="2850" spc="-105">
                <a:latin typeface="Arial MT"/>
                <a:cs typeface="Arial MT"/>
              </a:rPr>
              <a:t> </a:t>
            </a:r>
            <a:r>
              <a:rPr dirty="0" sz="2850" spc="-200">
                <a:latin typeface="Arial MT"/>
                <a:cs typeface="Arial MT"/>
              </a:rPr>
              <a:t>référentiels</a:t>
            </a:r>
            <a:r>
              <a:rPr dirty="0" sz="2850" spc="60">
                <a:latin typeface="Arial MT"/>
                <a:cs typeface="Arial MT"/>
              </a:rPr>
              <a:t> </a:t>
            </a:r>
            <a:r>
              <a:rPr dirty="0" sz="2850" spc="-260">
                <a:latin typeface="Arial MT"/>
                <a:cs typeface="Arial MT"/>
              </a:rPr>
              <a:t>pour</a:t>
            </a:r>
            <a:r>
              <a:rPr dirty="0" sz="2850" spc="65">
                <a:latin typeface="Arial MT"/>
                <a:cs typeface="Arial MT"/>
              </a:rPr>
              <a:t> </a:t>
            </a:r>
            <a:r>
              <a:rPr dirty="0" sz="2850" spc="-225">
                <a:latin typeface="Arial MT"/>
                <a:cs typeface="Arial MT"/>
              </a:rPr>
              <a:t>optimiser</a:t>
            </a:r>
            <a:r>
              <a:rPr dirty="0" sz="2850" spc="114">
                <a:latin typeface="Arial MT"/>
                <a:cs typeface="Arial MT"/>
              </a:rPr>
              <a:t> </a:t>
            </a:r>
            <a:r>
              <a:rPr dirty="0" sz="2850" spc="-285">
                <a:latin typeface="Arial MT"/>
                <a:cs typeface="Arial MT"/>
              </a:rPr>
              <a:t>la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 spc="-135">
                <a:latin typeface="Arial MT"/>
                <a:cs typeface="Arial MT"/>
              </a:rPr>
              <a:t>dosimétrie.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232841" y="2420055"/>
            <a:ext cx="3582670" cy="523367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8415" marR="140970" indent="13335">
              <a:lnSpc>
                <a:spcPct val="91700"/>
              </a:lnSpc>
              <a:spcBef>
                <a:spcPts val="409"/>
              </a:spcBef>
            </a:pPr>
            <a:r>
              <a:rPr dirty="0" sz="3200" spc="-120">
                <a:solidFill>
                  <a:srgbClr val="0F2846"/>
                </a:solidFill>
                <a:latin typeface="Arial MT"/>
                <a:cs typeface="Arial MT"/>
              </a:rPr>
              <a:t>Radiology</a:t>
            </a:r>
            <a:r>
              <a:rPr dirty="0" sz="3200" spc="-55">
                <a:solidFill>
                  <a:srgbClr val="0F2846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163660"/>
                </a:solidFill>
                <a:latin typeface="Arial MT"/>
                <a:cs typeface="Arial MT"/>
              </a:rPr>
              <a:t>Navy </a:t>
            </a:r>
            <a:r>
              <a:rPr dirty="0" sz="3300" spc="-65">
                <a:latin typeface="Arial MT"/>
                <a:cs typeface="Arial MT"/>
              </a:rPr>
              <a:t>Livrable</a:t>
            </a:r>
            <a:r>
              <a:rPr dirty="0" sz="3300" spc="-110">
                <a:latin typeface="Arial MT"/>
                <a:cs typeface="Arial MT"/>
              </a:rPr>
              <a:t> </a:t>
            </a:r>
            <a:r>
              <a:rPr dirty="0" sz="3300" spc="-135">
                <a:latin typeface="Arial MT"/>
                <a:cs typeface="Arial MT"/>
              </a:rPr>
              <a:t>2</a:t>
            </a:r>
            <a:r>
              <a:rPr dirty="0" sz="3300" spc="-44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:</a:t>
            </a:r>
            <a:r>
              <a:rPr dirty="0" sz="3300" spc="-170">
                <a:latin typeface="Arial MT"/>
                <a:cs typeface="Arial MT"/>
              </a:rPr>
              <a:t> </a:t>
            </a:r>
            <a:r>
              <a:rPr dirty="0" sz="3300" spc="-90">
                <a:latin typeface="Arial MT"/>
                <a:cs typeface="Arial MT"/>
              </a:rPr>
              <a:t>Analyse </a:t>
            </a:r>
            <a:r>
              <a:rPr dirty="0" sz="3200" spc="-10">
                <a:latin typeface="Arial MT"/>
                <a:cs typeface="Arial MT"/>
              </a:rPr>
              <a:t>Comparative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560"/>
              </a:lnSpc>
            </a:pPr>
            <a:r>
              <a:rPr dirty="0" sz="3250" spc="-10">
                <a:latin typeface="Arial MT"/>
                <a:cs typeface="Arial MT"/>
              </a:rPr>
              <a:t>Inter</a:t>
            </a:r>
            <a:endParaRPr sz="3250">
              <a:latin typeface="Arial MT"/>
              <a:cs typeface="Arial MT"/>
            </a:endParaRPr>
          </a:p>
          <a:p>
            <a:pPr marL="333375" marR="5080" indent="-225425">
              <a:lnSpc>
                <a:spcPts val="2750"/>
              </a:lnSpc>
              <a:spcBef>
                <a:spcPts val="2450"/>
              </a:spcBef>
              <a:buChar char="•"/>
              <a:tabLst>
                <a:tab pos="342900" algn="l"/>
              </a:tabLst>
            </a:pPr>
            <a:r>
              <a:rPr dirty="0" sz="2850" spc="-160">
                <a:latin typeface="Arial MT"/>
                <a:cs typeface="Arial MT"/>
              </a:rPr>
              <a:t>Identification</a:t>
            </a:r>
            <a:r>
              <a:rPr dirty="0" sz="2850" spc="-105">
                <a:latin typeface="Arial MT"/>
                <a:cs typeface="Arial MT"/>
              </a:rPr>
              <a:t> </a:t>
            </a:r>
            <a:r>
              <a:rPr dirty="0" sz="2850" spc="-320">
                <a:latin typeface="Arial MT"/>
                <a:cs typeface="Arial MT"/>
              </a:rPr>
              <a:t>des </a:t>
            </a:r>
            <a:r>
              <a:rPr dirty="0" sz="2850" spc="-320">
                <a:latin typeface="Arial MT"/>
                <a:cs typeface="Arial MT"/>
              </a:rPr>
              <a:t>	</a:t>
            </a:r>
            <a:r>
              <a:rPr dirty="0" sz="2850" spc="-335">
                <a:latin typeface="Arial MT"/>
                <a:cs typeface="Arial MT"/>
              </a:rPr>
              <a:t>examens</a:t>
            </a:r>
            <a:r>
              <a:rPr dirty="0" sz="2850" spc="65">
                <a:latin typeface="Arial MT"/>
                <a:cs typeface="Arial MT"/>
              </a:rPr>
              <a:t> </a:t>
            </a:r>
            <a:r>
              <a:rPr dirty="0" sz="2850" spc="-210">
                <a:latin typeface="Arial MT"/>
                <a:cs typeface="Arial MT"/>
              </a:rPr>
              <a:t>respectant</a:t>
            </a:r>
            <a:r>
              <a:rPr dirty="0" sz="2850" spc="80">
                <a:latin typeface="Arial MT"/>
                <a:cs typeface="Arial MT"/>
              </a:rPr>
              <a:t> </a:t>
            </a:r>
            <a:r>
              <a:rPr dirty="0" sz="2850" spc="-155">
                <a:latin typeface="Arial MT"/>
                <a:cs typeface="Arial MT"/>
              </a:rPr>
              <a:t>les </a:t>
            </a:r>
            <a:r>
              <a:rPr dirty="0" sz="2850" spc="-155">
                <a:latin typeface="Arial MT"/>
                <a:cs typeface="Arial MT"/>
              </a:rPr>
              <a:t>	</a:t>
            </a:r>
            <a:r>
              <a:rPr dirty="0" sz="2850" spc="-280">
                <a:latin typeface="Arial MT"/>
                <a:cs typeface="Arial MT"/>
              </a:rPr>
              <a:t>normes.</a:t>
            </a:r>
            <a:endParaRPr sz="2850">
              <a:latin typeface="Arial MT"/>
              <a:cs typeface="Arial MT"/>
            </a:endParaRPr>
          </a:p>
          <a:p>
            <a:pPr marL="333375" marR="256540" indent="-225425">
              <a:lnSpc>
                <a:spcPct val="80400"/>
              </a:lnSpc>
              <a:spcBef>
                <a:spcPts val="1070"/>
              </a:spcBef>
              <a:buChar char="•"/>
              <a:tabLst>
                <a:tab pos="343535" algn="l"/>
              </a:tabLst>
            </a:pPr>
            <a:r>
              <a:rPr dirty="0" sz="2850" spc="-160">
                <a:latin typeface="Arial MT"/>
                <a:cs typeface="Arial MT"/>
              </a:rPr>
              <a:t>Identification</a:t>
            </a:r>
            <a:r>
              <a:rPr dirty="0" sz="2850" spc="-105">
                <a:latin typeface="Arial MT"/>
                <a:cs typeface="Arial MT"/>
              </a:rPr>
              <a:t> </a:t>
            </a:r>
            <a:r>
              <a:rPr dirty="0" sz="2850" spc="-320">
                <a:latin typeface="Arial MT"/>
                <a:cs typeface="Arial MT"/>
              </a:rPr>
              <a:t>des </a:t>
            </a:r>
            <a:r>
              <a:rPr dirty="0" sz="2850" spc="-320">
                <a:latin typeface="Arial MT"/>
                <a:cs typeface="Arial MT"/>
              </a:rPr>
              <a:t>	</a:t>
            </a:r>
            <a:r>
              <a:rPr dirty="0" sz="2850" spc="-280">
                <a:latin typeface="Arial MT"/>
                <a:cs typeface="Arial MT"/>
              </a:rPr>
              <a:t>dépassements</a:t>
            </a:r>
            <a:r>
              <a:rPr dirty="0" sz="2850" spc="180">
                <a:latin typeface="Arial MT"/>
                <a:cs typeface="Arial MT"/>
              </a:rPr>
              <a:t> </a:t>
            </a:r>
            <a:r>
              <a:rPr dirty="0" sz="2850" spc="-270">
                <a:latin typeface="Arial MT"/>
                <a:cs typeface="Arial MT"/>
              </a:rPr>
              <a:t>(zones </a:t>
            </a:r>
            <a:r>
              <a:rPr dirty="0" sz="2850" spc="-270">
                <a:latin typeface="Arial MT"/>
                <a:cs typeface="Arial MT"/>
              </a:rPr>
              <a:t>	</a:t>
            </a:r>
            <a:r>
              <a:rPr dirty="0" sz="2850" spc="-85">
                <a:latin typeface="Arial MT"/>
                <a:cs typeface="Arial MT"/>
              </a:rPr>
              <a:t>d'alerte).</a:t>
            </a:r>
            <a:endParaRPr sz="2850">
              <a:latin typeface="Arial MT"/>
              <a:cs typeface="Arial MT"/>
            </a:endParaRPr>
          </a:p>
          <a:p>
            <a:pPr marL="344170" indent="-233679">
              <a:lnSpc>
                <a:spcPts val="2875"/>
              </a:lnSpc>
              <a:spcBef>
                <a:spcPts val="630"/>
              </a:spcBef>
              <a:buChar char="•"/>
              <a:tabLst>
                <a:tab pos="344170" algn="l"/>
              </a:tabLst>
            </a:pPr>
            <a:r>
              <a:rPr dirty="0" sz="2500" spc="-20">
                <a:latin typeface="Arial MT"/>
                <a:cs typeface="Arial MT"/>
              </a:rPr>
              <a:t>Détection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des</a:t>
            </a:r>
            <a:r>
              <a:rPr dirty="0" sz="2500" spc="-1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marges</a:t>
            </a:r>
            <a:endParaRPr sz="2500">
              <a:latin typeface="Arial MT"/>
              <a:cs typeface="Arial MT"/>
            </a:endParaRPr>
          </a:p>
          <a:p>
            <a:pPr marL="344805">
              <a:lnSpc>
                <a:spcPts val="2935"/>
              </a:lnSpc>
            </a:pPr>
            <a:r>
              <a:rPr dirty="0" sz="2550" spc="-10">
                <a:latin typeface="Arial MT"/>
                <a:cs typeface="Arial MT"/>
              </a:rPr>
              <a:t>d'optimisation.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 MT"/>
                <a:cs typeface="Arial MT"/>
              </a:rPr>
              <a:t>G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 spc="-9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8356600"/>
            <a:ext cx="16459200" cy="1270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261600" y="2387600"/>
            <a:ext cx="6350000" cy="4699000"/>
            <a:chOff x="10261600" y="2387600"/>
            <a:chExt cx="6350000" cy="4699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1600" y="2387600"/>
              <a:ext cx="6350000" cy="46990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14400" y="5156200"/>
              <a:ext cx="469900" cy="4572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9602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dirty="0" sz="5000" spc="150">
                <a:solidFill>
                  <a:srgbClr val="183350"/>
                </a:solidFill>
                <a:latin typeface="Calibri"/>
                <a:cs typeface="Calibri"/>
              </a:rPr>
              <a:t>Vers</a:t>
            </a:r>
            <a:r>
              <a:rPr dirty="0" sz="5000" spc="-25">
                <a:solidFill>
                  <a:srgbClr val="183350"/>
                </a:solidFill>
                <a:latin typeface="Calibri"/>
                <a:cs typeface="Calibri"/>
              </a:rPr>
              <a:t> </a:t>
            </a:r>
            <a:r>
              <a:rPr dirty="0" sz="5000" spc="95">
                <a:solidFill>
                  <a:srgbClr val="112B44"/>
                </a:solidFill>
                <a:latin typeface="Calibri"/>
                <a:cs typeface="Calibri"/>
              </a:rPr>
              <a:t>une</a:t>
            </a:r>
            <a:r>
              <a:rPr dirty="0" sz="5000" spc="100">
                <a:solidFill>
                  <a:srgbClr val="112B44"/>
                </a:solidFill>
                <a:latin typeface="Calibri"/>
                <a:cs typeface="Calibri"/>
              </a:rPr>
              <a:t> </a:t>
            </a:r>
            <a:r>
              <a:rPr dirty="0" sz="5000">
                <a:solidFill>
                  <a:srgbClr val="112A49"/>
                </a:solidFill>
                <a:latin typeface="Calibri"/>
                <a:cs typeface="Calibri"/>
              </a:rPr>
              <a:t>Optimisation</a:t>
            </a:r>
            <a:r>
              <a:rPr dirty="0" sz="5000" spc="270">
                <a:solidFill>
                  <a:srgbClr val="112A49"/>
                </a:solidFill>
                <a:latin typeface="Calibri"/>
                <a:cs typeface="Calibri"/>
              </a:rPr>
              <a:t> </a:t>
            </a:r>
            <a:r>
              <a:rPr dirty="0" sz="5000">
                <a:solidFill>
                  <a:srgbClr val="1C385B"/>
                </a:solidFill>
                <a:latin typeface="Calibri"/>
                <a:cs typeface="Calibri"/>
              </a:rPr>
              <a:t>Pratique</a:t>
            </a:r>
            <a:r>
              <a:rPr dirty="0" sz="5000" spc="360">
                <a:solidFill>
                  <a:srgbClr val="1C385B"/>
                </a:solidFill>
                <a:latin typeface="Calibri"/>
                <a:cs typeface="Calibri"/>
              </a:rPr>
              <a:t> </a:t>
            </a:r>
            <a:r>
              <a:rPr dirty="0" sz="5000" spc="229">
                <a:solidFill>
                  <a:srgbClr val="162F4D"/>
                </a:solidFill>
                <a:latin typeface="Calibri"/>
                <a:cs typeface="Calibri"/>
              </a:rPr>
              <a:t>des</a:t>
            </a:r>
            <a:r>
              <a:rPr dirty="0" sz="5000" spc="-55">
                <a:solidFill>
                  <a:srgbClr val="162F4D"/>
                </a:solidFill>
                <a:latin typeface="Calibri"/>
                <a:cs typeface="Calibri"/>
              </a:rPr>
              <a:t> </a:t>
            </a:r>
            <a:r>
              <a:rPr dirty="0" sz="5000" spc="110">
                <a:solidFill>
                  <a:srgbClr val="16314F"/>
                </a:solidFill>
                <a:latin typeface="Calibri"/>
                <a:cs typeface="Calibri"/>
              </a:rPr>
              <a:t>Pratiques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4928" y="2356555"/>
            <a:ext cx="627634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80">
                <a:latin typeface="Calibri"/>
                <a:cs typeface="Calibri"/>
              </a:rPr>
              <a:t>Livrable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110">
                <a:latin typeface="Calibri"/>
                <a:cs typeface="Calibri"/>
              </a:rPr>
              <a:t>3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60">
                <a:latin typeface="Calibri"/>
                <a:cs typeface="Calibri"/>
              </a:rPr>
              <a:t>: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55">
                <a:latin typeface="Calibri"/>
                <a:cs typeface="Calibri"/>
              </a:rPr>
              <a:t>Compréhension</a:t>
            </a:r>
            <a:r>
              <a:rPr dirty="0" sz="3200" spc="175">
                <a:latin typeface="Calibri"/>
                <a:cs typeface="Calibri"/>
              </a:rPr>
              <a:t> </a:t>
            </a:r>
            <a:r>
              <a:rPr dirty="0" sz="3200" spc="110">
                <a:latin typeface="Calibri"/>
                <a:cs typeface="Calibri"/>
              </a:rPr>
              <a:t>Causale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53446" y="2859616"/>
            <a:ext cx="8301990" cy="92710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20320" marR="5080" indent="-8255">
              <a:lnSpc>
                <a:spcPct val="78300"/>
              </a:lnSpc>
              <a:spcBef>
                <a:spcPts val="990"/>
              </a:spcBef>
            </a:pPr>
            <a:r>
              <a:rPr dirty="0" sz="3300" spc="-204">
                <a:latin typeface="Calibri"/>
                <a:cs typeface="Calibri"/>
              </a:rPr>
              <a:t>Mise</a:t>
            </a:r>
            <a:r>
              <a:rPr dirty="0" sz="3300" spc="15">
                <a:latin typeface="Calibri"/>
                <a:cs typeface="Calibri"/>
              </a:rPr>
              <a:t> </a:t>
            </a:r>
            <a:r>
              <a:rPr dirty="0" sz="3300" spc="-204">
                <a:latin typeface="Calibri"/>
                <a:cs typeface="Calibri"/>
              </a:rPr>
              <a:t>en</a:t>
            </a:r>
            <a:r>
              <a:rPr dirty="0" sz="3300" spc="-150">
                <a:latin typeface="Calibri"/>
                <a:cs typeface="Calibri"/>
              </a:rPr>
              <a:t> </a:t>
            </a:r>
            <a:r>
              <a:rPr dirty="0" sz="3300" spc="-155">
                <a:latin typeface="Calibri"/>
                <a:cs typeface="Calibri"/>
              </a:rPr>
              <a:t>évidence</a:t>
            </a:r>
            <a:r>
              <a:rPr dirty="0" sz="3300">
                <a:latin typeface="Calibri"/>
                <a:cs typeface="Calibri"/>
              </a:rPr>
              <a:t> </a:t>
            </a:r>
            <a:r>
              <a:rPr dirty="0" sz="3300" spc="-70">
                <a:latin typeface="Calibri"/>
                <a:cs typeface="Calibri"/>
              </a:rPr>
              <a:t>des</a:t>
            </a:r>
            <a:r>
              <a:rPr dirty="0" sz="3300" spc="-110">
                <a:latin typeface="Calibri"/>
                <a:cs typeface="Calibri"/>
              </a:rPr>
              <a:t> </a:t>
            </a:r>
            <a:r>
              <a:rPr dirty="0" sz="3300" spc="-145">
                <a:latin typeface="Calibri"/>
                <a:cs typeface="Calibri"/>
              </a:rPr>
              <a:t>facteurs</a:t>
            </a:r>
            <a:r>
              <a:rPr dirty="0" sz="3300" spc="-25">
                <a:latin typeface="Calibri"/>
                <a:cs typeface="Calibri"/>
              </a:rPr>
              <a:t> </a:t>
            </a:r>
            <a:r>
              <a:rPr dirty="0" sz="3300" spc="-170">
                <a:latin typeface="Calibri"/>
                <a:cs typeface="Calibri"/>
              </a:rPr>
              <a:t>techniques</a:t>
            </a:r>
            <a:r>
              <a:rPr dirty="0" sz="3300" spc="55">
                <a:latin typeface="Calibri"/>
                <a:cs typeface="Calibri"/>
              </a:rPr>
              <a:t> </a:t>
            </a:r>
            <a:r>
              <a:rPr dirty="0" sz="3300" spc="-85">
                <a:latin typeface="Calibri"/>
                <a:cs typeface="Calibri"/>
              </a:rPr>
              <a:t>spécifiques </a:t>
            </a:r>
            <a:r>
              <a:rPr dirty="0" sz="3300" spc="-190">
                <a:latin typeface="Calibri"/>
                <a:cs typeface="Calibri"/>
              </a:rPr>
              <a:t>influençant</a:t>
            </a:r>
            <a:r>
              <a:rPr dirty="0" sz="3300" spc="80">
                <a:latin typeface="Calibri"/>
                <a:cs typeface="Calibri"/>
              </a:rPr>
              <a:t> </a:t>
            </a:r>
            <a:r>
              <a:rPr dirty="0" sz="3300" spc="-135">
                <a:latin typeface="Calibri"/>
                <a:cs typeface="Calibri"/>
              </a:rPr>
              <a:t>la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dose.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232996" y="2964737"/>
            <a:ext cx="1616710" cy="148463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805"/>
              </a:spcBef>
            </a:pPr>
            <a:r>
              <a:rPr dirty="0" sz="5200" spc="45">
                <a:solidFill>
                  <a:srgbClr val="133150"/>
                </a:solidFill>
                <a:latin typeface="Calibri"/>
                <a:cs typeface="Calibri"/>
              </a:rPr>
              <a:t>Field</a:t>
            </a:r>
            <a:endParaRPr sz="5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400" spc="850">
                <a:solidFill>
                  <a:srgbClr val="163457"/>
                </a:solidFill>
                <a:latin typeface="Calibri"/>
                <a:cs typeface="Calibri"/>
              </a:rPr>
              <a:t>Guide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545909" y="2850091"/>
            <a:ext cx="2087245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7094" sz="7800" spc="75">
                <a:solidFill>
                  <a:srgbClr val="3B85AA"/>
                </a:solidFill>
                <a:latin typeface="Calibri"/>
                <a:cs typeface="Calibri"/>
              </a:rPr>
              <a:t>¿;</a:t>
            </a:r>
            <a:r>
              <a:rPr dirty="0" baseline="-17094" sz="7800" spc="-569">
                <a:solidFill>
                  <a:srgbClr val="3B85AA"/>
                </a:solidFill>
                <a:latin typeface="Calibri"/>
                <a:cs typeface="Calibri"/>
              </a:rPr>
              <a:t> </a:t>
            </a:r>
            <a:r>
              <a:rPr dirty="0" sz="2700" spc="-35">
                <a:latin typeface="Calibri"/>
                <a:cs typeface="Calibri"/>
              </a:rPr>
              <a:t>Protocoles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2708" y="3978980"/>
            <a:ext cx="8925560" cy="369824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370"/>
              </a:spcBef>
            </a:pPr>
            <a:r>
              <a:rPr dirty="0" sz="3400">
                <a:latin typeface="Calibri"/>
                <a:cs typeface="Calibri"/>
              </a:rPr>
              <a:t>Livrable</a:t>
            </a:r>
            <a:r>
              <a:rPr dirty="0" sz="3400" spc="20">
                <a:latin typeface="Calibri"/>
                <a:cs typeface="Calibri"/>
              </a:rPr>
              <a:t> </a:t>
            </a:r>
            <a:r>
              <a:rPr dirty="0" sz="3400" spc="120">
                <a:latin typeface="Calibri"/>
                <a:cs typeface="Calibri"/>
              </a:rPr>
              <a:t>4</a:t>
            </a:r>
            <a:r>
              <a:rPr dirty="0" sz="3400" spc="-265">
                <a:latin typeface="Calibri"/>
                <a:cs typeface="Calibri"/>
              </a:rPr>
              <a:t> </a:t>
            </a:r>
            <a:r>
              <a:rPr dirty="0" sz="3400" spc="60">
                <a:latin typeface="Calibri"/>
                <a:cs typeface="Calibri"/>
              </a:rPr>
              <a:t>:</a:t>
            </a:r>
            <a:r>
              <a:rPr dirty="0" sz="3400" spc="-22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Recommandations</a:t>
            </a:r>
            <a:r>
              <a:rPr dirty="0" sz="3400" spc="-409">
                <a:latin typeface="Calibri"/>
                <a:cs typeface="Calibri"/>
              </a:rPr>
              <a:t> </a:t>
            </a:r>
            <a:r>
              <a:rPr dirty="0" sz="3400" spc="-20">
                <a:latin typeface="Calibri"/>
                <a:cs typeface="Calibri"/>
              </a:rPr>
              <a:t>pour </a:t>
            </a:r>
            <a:r>
              <a:rPr dirty="0" sz="3400" spc="85">
                <a:latin typeface="Calibri"/>
                <a:cs typeface="Calibri"/>
              </a:rPr>
              <a:t>les</a:t>
            </a:r>
            <a:r>
              <a:rPr dirty="0" sz="3400" spc="-10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Techniciens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565"/>
              </a:lnSpc>
              <a:spcBef>
                <a:spcPts val="1270"/>
              </a:spcBef>
            </a:pPr>
            <a:r>
              <a:rPr dirty="0" sz="3400" spc="1190">
                <a:solidFill>
                  <a:srgbClr val="3487B3"/>
                </a:solidFill>
                <a:latin typeface="Calibri"/>
                <a:cs typeface="Calibri"/>
              </a:rPr>
              <a:t>O</a:t>
            </a:r>
            <a:r>
              <a:rPr dirty="0" sz="3400" spc="409">
                <a:solidFill>
                  <a:srgbClr val="3487B3"/>
                </a:solidFill>
                <a:latin typeface="Calibri"/>
                <a:cs typeface="Calibri"/>
              </a:rPr>
              <a:t> </a:t>
            </a:r>
            <a:r>
              <a:rPr dirty="0" sz="3400" spc="-380">
                <a:latin typeface="Calibri"/>
                <a:cs typeface="Calibri"/>
              </a:rPr>
              <a:t>1.</a:t>
            </a:r>
            <a:r>
              <a:rPr dirty="0" sz="3400" spc="-95">
                <a:latin typeface="Calibri"/>
                <a:cs typeface="Calibri"/>
              </a:rPr>
              <a:t> </a:t>
            </a:r>
            <a:r>
              <a:rPr dirty="0" sz="3400" spc="-120">
                <a:latin typeface="Calibri"/>
                <a:cs typeface="Calibri"/>
              </a:rPr>
              <a:t>Harmonisation:</a:t>
            </a:r>
            <a:r>
              <a:rPr dirty="0" sz="3400" spc="-145">
                <a:latin typeface="Calibri"/>
                <a:cs typeface="Calibri"/>
              </a:rPr>
              <a:t> </a:t>
            </a:r>
            <a:r>
              <a:rPr dirty="0" sz="3400" spc="-195">
                <a:latin typeface="Calibri"/>
                <a:cs typeface="Calibri"/>
              </a:rPr>
              <a:t>Standardisation</a:t>
            </a:r>
            <a:r>
              <a:rPr dirty="0" sz="3400" spc="-90">
                <a:latin typeface="Calibri"/>
                <a:cs typeface="Calibri"/>
              </a:rPr>
              <a:t> </a:t>
            </a:r>
            <a:r>
              <a:rPr dirty="0" sz="3400" spc="-155">
                <a:latin typeface="Calibri"/>
                <a:cs typeface="Calibri"/>
              </a:rPr>
              <a:t>des</a:t>
            </a:r>
            <a:r>
              <a:rPr dirty="0" sz="3400" spc="-114">
                <a:latin typeface="Calibri"/>
                <a:cs typeface="Calibri"/>
              </a:rPr>
              <a:t> </a:t>
            </a:r>
            <a:r>
              <a:rPr dirty="0" sz="3400" spc="-120">
                <a:latin typeface="Calibri"/>
                <a:cs typeface="Calibri"/>
              </a:rPr>
              <a:t>protocoles</a:t>
            </a:r>
            <a:endParaRPr sz="3400">
              <a:latin typeface="Calibri"/>
              <a:cs typeface="Calibri"/>
            </a:endParaRPr>
          </a:p>
          <a:p>
            <a:pPr marL="914400">
              <a:lnSpc>
                <a:spcPts val="3625"/>
              </a:lnSpc>
            </a:pPr>
            <a:r>
              <a:rPr dirty="0" sz="3450" spc="-135">
                <a:latin typeface="Calibri"/>
                <a:cs typeface="Calibri"/>
              </a:rPr>
              <a:t>d'acquisition.</a:t>
            </a:r>
            <a:endParaRPr sz="3450">
              <a:latin typeface="Calibri"/>
              <a:cs typeface="Calibri"/>
            </a:endParaRPr>
          </a:p>
          <a:p>
            <a:pPr marL="921385" marR="667385" indent="-354330">
              <a:lnSpc>
                <a:spcPts val="3100"/>
              </a:lnSpc>
              <a:spcBef>
                <a:spcPts val="1330"/>
              </a:spcBef>
              <a:buAutoNum type="arabicPeriod" startAt="2"/>
              <a:tabLst>
                <a:tab pos="921385" algn="l"/>
                <a:tab pos="934085" algn="l"/>
              </a:tabLst>
            </a:pPr>
            <a:r>
              <a:rPr dirty="0" sz="3100">
                <a:latin typeface="Arial MT"/>
                <a:cs typeface="Arial MT"/>
              </a:rPr>
              <a:t>	</a:t>
            </a:r>
            <a:r>
              <a:rPr dirty="0" sz="3100" spc="-160">
                <a:latin typeface="Arial MT"/>
                <a:cs typeface="Arial MT"/>
              </a:rPr>
              <a:t>Ajustement</a:t>
            </a:r>
            <a:r>
              <a:rPr dirty="0" sz="3100" spc="-6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:</a:t>
            </a:r>
            <a:r>
              <a:rPr dirty="0" sz="3100" spc="-215">
                <a:latin typeface="Arial MT"/>
                <a:cs typeface="Arial MT"/>
              </a:rPr>
              <a:t> </a:t>
            </a:r>
            <a:r>
              <a:rPr dirty="0" sz="3100" spc="-270">
                <a:latin typeface="Arial MT"/>
                <a:cs typeface="Arial MT"/>
              </a:rPr>
              <a:t>Choix</a:t>
            </a:r>
            <a:r>
              <a:rPr dirty="0" sz="3100" spc="55">
                <a:latin typeface="Arial MT"/>
                <a:cs typeface="Arial MT"/>
              </a:rPr>
              <a:t> </a:t>
            </a:r>
            <a:r>
              <a:rPr dirty="0" sz="3100" spc="-195">
                <a:latin typeface="Arial MT"/>
                <a:cs typeface="Arial MT"/>
              </a:rPr>
              <a:t>optimal</a:t>
            </a:r>
            <a:r>
              <a:rPr dirty="0" sz="3100" spc="-30">
                <a:latin typeface="Arial MT"/>
                <a:cs typeface="Arial MT"/>
              </a:rPr>
              <a:t> </a:t>
            </a:r>
            <a:r>
              <a:rPr dirty="0" sz="3100" spc="-250">
                <a:latin typeface="Arial MT"/>
                <a:cs typeface="Arial MT"/>
              </a:rPr>
              <a:t>des</a:t>
            </a:r>
            <a:r>
              <a:rPr dirty="0" sz="3100" spc="-45">
                <a:latin typeface="Arial MT"/>
                <a:cs typeface="Arial MT"/>
              </a:rPr>
              <a:t> </a:t>
            </a:r>
            <a:r>
              <a:rPr dirty="0" sz="3100" spc="-220">
                <a:latin typeface="Arial MT"/>
                <a:cs typeface="Arial MT"/>
              </a:rPr>
              <a:t>paramètres</a:t>
            </a:r>
            <a:r>
              <a:rPr dirty="0" sz="3100" spc="175">
                <a:latin typeface="Arial MT"/>
                <a:cs typeface="Arial MT"/>
              </a:rPr>
              <a:t> </a:t>
            </a:r>
            <a:r>
              <a:rPr dirty="0" sz="3100" spc="-315">
                <a:latin typeface="Arial MT"/>
                <a:cs typeface="Arial MT"/>
              </a:rPr>
              <a:t>(kV, </a:t>
            </a:r>
            <a:r>
              <a:rPr dirty="0" sz="3100" spc="-345">
                <a:latin typeface="Arial MT"/>
                <a:cs typeface="Arial MT"/>
              </a:rPr>
              <a:t>mAs)</a:t>
            </a:r>
            <a:r>
              <a:rPr dirty="0" sz="3100" spc="260">
                <a:latin typeface="Arial MT"/>
                <a:cs typeface="Arial MT"/>
              </a:rPr>
              <a:t> </a:t>
            </a:r>
            <a:r>
              <a:rPr dirty="0" sz="3100" spc="-235">
                <a:latin typeface="Arial MT"/>
                <a:cs typeface="Arial MT"/>
              </a:rPr>
              <a:t>selon</a:t>
            </a:r>
            <a:r>
              <a:rPr dirty="0" sz="3100" spc="-100">
                <a:latin typeface="Arial MT"/>
                <a:cs typeface="Arial MT"/>
              </a:rPr>
              <a:t> </a:t>
            </a:r>
            <a:r>
              <a:rPr dirty="0" sz="3100" spc="-260">
                <a:latin typeface="Arial MT"/>
                <a:cs typeface="Arial MT"/>
              </a:rPr>
              <a:t>la</a:t>
            </a:r>
            <a:r>
              <a:rPr dirty="0" sz="3100" spc="30">
                <a:latin typeface="Arial MT"/>
                <a:cs typeface="Arial MT"/>
              </a:rPr>
              <a:t> </a:t>
            </a:r>
            <a:r>
              <a:rPr dirty="0" sz="3100" spc="-125">
                <a:latin typeface="Arial MT"/>
                <a:cs typeface="Arial MT"/>
              </a:rPr>
              <a:t>morphologie.</a:t>
            </a:r>
            <a:endParaRPr sz="3100">
              <a:latin typeface="Arial MT"/>
              <a:cs typeface="Arial MT"/>
            </a:endParaRPr>
          </a:p>
          <a:p>
            <a:pPr marL="915669" marR="755015" indent="-355600">
              <a:lnSpc>
                <a:spcPts val="3100"/>
              </a:lnSpc>
              <a:spcBef>
                <a:spcPts val="1400"/>
              </a:spcBef>
              <a:buAutoNum type="arabicPeriod" startAt="2"/>
              <a:tabLst>
                <a:tab pos="919480" algn="l"/>
                <a:tab pos="4358640" algn="l"/>
              </a:tabLst>
            </a:pPr>
            <a:r>
              <a:rPr dirty="0" sz="2950">
                <a:latin typeface="Calibri"/>
                <a:cs typeface="Calibri"/>
              </a:rPr>
              <a:t>Guide</a:t>
            </a:r>
            <a:r>
              <a:rPr dirty="0" sz="2950" spc="6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:</a:t>
            </a:r>
            <a:r>
              <a:rPr dirty="0" sz="2950" spc="15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Renforcement</a:t>
            </a:r>
            <a:r>
              <a:rPr dirty="0" sz="2950">
                <a:latin typeface="Calibri"/>
                <a:cs typeface="Calibri"/>
              </a:rPr>
              <a:t>	</a:t>
            </a:r>
            <a:r>
              <a:rPr dirty="0" sz="2950" spc="65">
                <a:latin typeface="Calibri"/>
                <a:cs typeface="Calibri"/>
              </a:rPr>
              <a:t>des</a:t>
            </a:r>
            <a:r>
              <a:rPr dirty="0" sz="2950" spc="-3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bonnes</a:t>
            </a:r>
            <a:r>
              <a:rPr dirty="0" sz="2950" spc="-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pratiques</a:t>
            </a:r>
            <a:r>
              <a:rPr dirty="0" sz="2950" spc="135">
                <a:latin typeface="Calibri"/>
                <a:cs typeface="Calibri"/>
              </a:rPr>
              <a:t> </a:t>
            </a:r>
            <a:r>
              <a:rPr dirty="0" sz="2950" spc="30">
                <a:latin typeface="Calibri"/>
                <a:cs typeface="Calibri"/>
              </a:rPr>
              <a:t>de </a:t>
            </a:r>
            <a:r>
              <a:rPr dirty="0" sz="2950" spc="30">
                <a:latin typeface="Calibri"/>
                <a:cs typeface="Calibri"/>
              </a:rPr>
              <a:t>	</a:t>
            </a:r>
            <a:r>
              <a:rPr dirty="0" sz="2950" spc="-10">
                <a:latin typeface="Calibri"/>
                <a:cs typeface="Calibri"/>
              </a:rPr>
              <a:t>radioprotection.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186979" y="3506611"/>
            <a:ext cx="172847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0">
                <a:latin typeface="Calibri"/>
                <a:cs typeface="Calibri"/>
              </a:rPr>
              <a:t>Standardisés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168970" y="4060472"/>
            <a:ext cx="1531620" cy="1677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075"/>
              </a:lnSpc>
              <a:spcBef>
                <a:spcPts val="125"/>
              </a:spcBef>
            </a:pPr>
            <a:r>
              <a:rPr dirty="0" sz="2750" spc="-105">
                <a:latin typeface="Calibri"/>
                <a:cs typeface="Calibri"/>
              </a:rPr>
              <a:t>Paramètres</a:t>
            </a:r>
            <a:endParaRPr sz="2750">
              <a:latin typeface="Calibri"/>
              <a:cs typeface="Calibri"/>
            </a:endParaRPr>
          </a:p>
          <a:p>
            <a:pPr marL="26670">
              <a:lnSpc>
                <a:spcPts val="2775"/>
              </a:lnSpc>
            </a:pPr>
            <a:r>
              <a:rPr dirty="0" sz="2500" spc="-10">
                <a:latin typeface="Calibri"/>
                <a:cs typeface="Calibri"/>
              </a:rPr>
              <a:t>Optimisés</a:t>
            </a:r>
            <a:endParaRPr sz="2500">
              <a:latin typeface="Calibri"/>
              <a:cs typeface="Calibri"/>
            </a:endParaRPr>
          </a:p>
          <a:p>
            <a:pPr marL="13970" marR="258445">
              <a:lnSpc>
                <a:spcPts val="2600"/>
              </a:lnSpc>
              <a:spcBef>
                <a:spcPts val="1920"/>
              </a:spcBef>
            </a:pPr>
            <a:r>
              <a:rPr dirty="0" sz="2600" spc="-10">
                <a:latin typeface="Calibri"/>
                <a:cs typeface="Calibri"/>
              </a:rPr>
              <a:t>Bonnes </a:t>
            </a:r>
            <a:r>
              <a:rPr dirty="0" sz="2600" spc="-30">
                <a:latin typeface="Calibri"/>
                <a:cs typeface="Calibri"/>
              </a:rPr>
              <a:t>Pratiques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107170" y="7271455"/>
            <a:ext cx="462026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163350"/>
                </a:solidFill>
                <a:latin typeface="Calibri"/>
                <a:cs typeface="Calibri"/>
              </a:rPr>
              <a:t>Guide</a:t>
            </a:r>
            <a:r>
              <a:rPr dirty="0" sz="3200" spc="120">
                <a:solidFill>
                  <a:srgbClr val="163350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82D44"/>
                </a:solidFill>
                <a:latin typeface="Calibri"/>
                <a:cs typeface="Calibri"/>
              </a:rPr>
              <a:t>Pratique</a:t>
            </a:r>
            <a:r>
              <a:rPr dirty="0" sz="3200" spc="180">
                <a:solidFill>
                  <a:srgbClr val="182D44"/>
                </a:solidFill>
                <a:latin typeface="Calibri"/>
                <a:cs typeface="Calibri"/>
              </a:rPr>
              <a:t> </a:t>
            </a:r>
            <a:r>
              <a:rPr dirty="0" sz="3200" spc="-265">
                <a:solidFill>
                  <a:srgbClr val="133352"/>
                </a:solidFill>
                <a:latin typeface="Calibri"/>
                <a:cs typeface="Calibri"/>
              </a:rPr>
              <a:t>&amp;</a:t>
            </a:r>
            <a:r>
              <a:rPr dirty="0" sz="3200" spc="114">
                <a:solidFill>
                  <a:srgbClr val="133352"/>
                </a:solidFill>
                <a:latin typeface="Calibri"/>
                <a:cs typeface="Calibri"/>
              </a:rPr>
              <a:t> </a:t>
            </a:r>
            <a:r>
              <a:rPr dirty="0" sz="3200" spc="100">
                <a:solidFill>
                  <a:srgbClr val="0F283F"/>
                </a:solidFill>
                <a:latin typeface="Calibri"/>
                <a:cs typeface="Calibri"/>
              </a:rPr>
              <a:t>Checklist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5715000"/>
            <a:ext cx="15519400" cy="38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6682" rIns="0" bIns="0" rtlCol="0" vert="horz">
            <a:spAutoFit/>
          </a:bodyPr>
          <a:lstStyle/>
          <a:p>
            <a:pPr marL="86106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71F4B"/>
                </a:solidFill>
              </a:rPr>
              <a:t>Impact</a:t>
            </a:r>
            <a:r>
              <a:rPr dirty="0" spc="-160">
                <a:solidFill>
                  <a:srgbClr val="071F4B"/>
                </a:solidFill>
              </a:rPr>
              <a:t> </a:t>
            </a:r>
            <a:r>
              <a:rPr dirty="0" spc="-85">
                <a:solidFill>
                  <a:srgbClr val="052654"/>
                </a:solidFill>
              </a:rPr>
              <a:t>Final</a:t>
            </a:r>
            <a:r>
              <a:rPr dirty="0" spc="-345">
                <a:solidFill>
                  <a:srgbClr val="052654"/>
                </a:solidFill>
              </a:rPr>
              <a:t> </a:t>
            </a:r>
            <a:r>
              <a:rPr dirty="0" spc="-455" i="1">
                <a:solidFill>
                  <a:srgbClr val="052356"/>
                </a:solidFill>
                <a:latin typeface="Arial"/>
                <a:cs typeface="Arial"/>
              </a:rPr>
              <a:t>:</a:t>
            </a:r>
            <a:r>
              <a:rPr dirty="0" spc="-145" i="1">
                <a:solidFill>
                  <a:srgbClr val="052356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52457"/>
                </a:solidFill>
              </a:rPr>
              <a:t>Sécurité</a:t>
            </a:r>
            <a:r>
              <a:rPr dirty="0" spc="-220">
                <a:solidFill>
                  <a:srgbClr val="052457"/>
                </a:solidFill>
              </a:rPr>
              <a:t> </a:t>
            </a:r>
            <a:r>
              <a:rPr dirty="0" spc="105">
                <a:solidFill>
                  <a:srgbClr val="071F4D"/>
                </a:solidFill>
              </a:rPr>
              <a:t>et</a:t>
            </a:r>
            <a:r>
              <a:rPr dirty="0" spc="-290">
                <a:solidFill>
                  <a:srgbClr val="071F4D"/>
                </a:solidFill>
              </a:rPr>
              <a:t> </a:t>
            </a:r>
            <a:r>
              <a:rPr dirty="0" spc="-10"/>
              <a:t>Valorisation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60521" y="2623608"/>
            <a:ext cx="6727190" cy="2065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4800" spc="-340">
                <a:solidFill>
                  <a:srgbClr val="071D48"/>
                </a:solidFill>
                <a:latin typeface="Arial MT"/>
                <a:cs typeface="Arial MT"/>
              </a:rPr>
              <a:t>SÉCURITÉ</a:t>
            </a:r>
            <a:r>
              <a:rPr dirty="0" sz="4800" spc="155">
                <a:solidFill>
                  <a:srgbClr val="071D48"/>
                </a:solidFill>
                <a:latin typeface="Arial MT"/>
                <a:cs typeface="Arial MT"/>
              </a:rPr>
              <a:t> </a:t>
            </a:r>
            <a:r>
              <a:rPr dirty="0" sz="4800" spc="-220">
                <a:solidFill>
                  <a:srgbClr val="071C46"/>
                </a:solidFill>
                <a:latin typeface="Arial MT"/>
                <a:cs typeface="Arial MT"/>
              </a:rPr>
              <a:t>DU</a:t>
            </a:r>
            <a:r>
              <a:rPr dirty="0" sz="4800" spc="-295">
                <a:solidFill>
                  <a:srgbClr val="071C46"/>
                </a:solidFill>
                <a:latin typeface="Arial MT"/>
                <a:cs typeface="Arial MT"/>
              </a:rPr>
              <a:t> </a:t>
            </a:r>
            <a:r>
              <a:rPr dirty="0" sz="4800" spc="-45">
                <a:solidFill>
                  <a:srgbClr val="081F4B"/>
                </a:solidFill>
                <a:latin typeface="Arial MT"/>
                <a:cs typeface="Arial MT"/>
              </a:rPr>
              <a:t>PATIENT</a:t>
            </a:r>
            <a:endParaRPr sz="4800">
              <a:latin typeface="Arial MT"/>
              <a:cs typeface="Arial MT"/>
            </a:endParaRPr>
          </a:p>
          <a:p>
            <a:pPr algn="ctr" marL="12700" marR="5080">
              <a:lnSpc>
                <a:spcPts val="3750"/>
              </a:lnSpc>
              <a:spcBef>
                <a:spcPts val="2890"/>
              </a:spcBef>
            </a:pPr>
            <a:r>
              <a:rPr dirty="0" sz="3300" spc="-90">
                <a:latin typeface="Arial MT"/>
                <a:cs typeface="Arial MT"/>
              </a:rPr>
              <a:t>Une</a:t>
            </a:r>
            <a:r>
              <a:rPr dirty="0" sz="3300" spc="-140">
                <a:latin typeface="Arial MT"/>
                <a:cs typeface="Arial MT"/>
              </a:rPr>
              <a:t> </a:t>
            </a:r>
            <a:r>
              <a:rPr dirty="0" sz="3300" spc="-10">
                <a:latin typeface="Arial MT"/>
                <a:cs typeface="Arial MT"/>
              </a:rPr>
              <a:t>réduction</a:t>
            </a:r>
            <a:r>
              <a:rPr dirty="0" sz="3300" spc="-114">
                <a:latin typeface="Arial MT"/>
                <a:cs typeface="Arial MT"/>
              </a:rPr>
              <a:t> </a:t>
            </a:r>
            <a:r>
              <a:rPr dirty="0" sz="3300" spc="-10">
                <a:latin typeface="Arial MT"/>
                <a:cs typeface="Arial MT"/>
              </a:rPr>
              <a:t>concrète</a:t>
            </a:r>
            <a:r>
              <a:rPr dirty="0" sz="3300" spc="-60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et</a:t>
            </a:r>
            <a:r>
              <a:rPr dirty="0" sz="3300" spc="-215">
                <a:latin typeface="Arial MT"/>
                <a:cs typeface="Arial MT"/>
              </a:rPr>
              <a:t> </a:t>
            </a:r>
            <a:r>
              <a:rPr dirty="0" sz="3300" spc="-55">
                <a:latin typeface="Arial MT"/>
                <a:cs typeface="Arial MT"/>
              </a:rPr>
              <a:t>mesurable </a:t>
            </a:r>
            <a:r>
              <a:rPr dirty="0" sz="3300">
                <a:latin typeface="Arial MT"/>
                <a:cs typeface="Arial MT"/>
              </a:rPr>
              <a:t>des</a:t>
            </a:r>
            <a:r>
              <a:rPr dirty="0" sz="3300" spc="-200">
                <a:latin typeface="Arial MT"/>
                <a:cs typeface="Arial MT"/>
              </a:rPr>
              <a:t> </a:t>
            </a:r>
            <a:r>
              <a:rPr dirty="0" sz="3300" spc="-55">
                <a:latin typeface="Arial MT"/>
                <a:cs typeface="Arial MT"/>
              </a:rPr>
              <a:t>doses</a:t>
            </a:r>
            <a:r>
              <a:rPr dirty="0" sz="3300" spc="-130">
                <a:latin typeface="Arial MT"/>
                <a:cs typeface="Arial MT"/>
              </a:rPr>
              <a:t> </a:t>
            </a:r>
            <a:r>
              <a:rPr dirty="0" sz="3300" spc="-45">
                <a:latin typeface="Arial MT"/>
                <a:cs typeface="Arial MT"/>
              </a:rPr>
              <a:t>en</a:t>
            </a:r>
            <a:r>
              <a:rPr dirty="0" sz="3300" spc="-185">
                <a:latin typeface="Arial MT"/>
                <a:cs typeface="Arial MT"/>
              </a:rPr>
              <a:t> </a:t>
            </a:r>
            <a:r>
              <a:rPr dirty="0" sz="3300" spc="-10">
                <a:latin typeface="Arial MT"/>
                <a:cs typeface="Arial MT"/>
              </a:rPr>
              <a:t>tomodensitométrie.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pc="-204"/>
              <a:t>VALORISATION</a:t>
            </a:r>
            <a:r>
              <a:rPr dirty="0" spc="-25"/>
              <a:t> </a:t>
            </a:r>
            <a:r>
              <a:rPr dirty="0" spc="-220">
                <a:solidFill>
                  <a:srgbClr val="071F4B"/>
                </a:solidFill>
              </a:rPr>
              <a:t>DU</a:t>
            </a:r>
            <a:r>
              <a:rPr dirty="0" spc="-395">
                <a:solidFill>
                  <a:srgbClr val="071F4B"/>
                </a:solidFill>
              </a:rPr>
              <a:t> </a:t>
            </a:r>
            <a:r>
              <a:rPr dirty="0" spc="-320">
                <a:solidFill>
                  <a:srgbClr val="051D49"/>
                </a:solidFill>
              </a:rPr>
              <a:t>MÉTIER</a:t>
            </a:r>
          </a:p>
          <a:p>
            <a:pPr algn="ctr" marL="266700" marR="219710" indent="-10160">
              <a:lnSpc>
                <a:spcPts val="3750"/>
              </a:lnSpc>
              <a:spcBef>
                <a:spcPts val="2890"/>
              </a:spcBef>
            </a:pPr>
            <a:r>
              <a:rPr dirty="0" sz="3300" spc="-90">
                <a:solidFill>
                  <a:srgbClr val="000000"/>
                </a:solidFill>
              </a:rPr>
              <a:t>La</a:t>
            </a:r>
            <a:r>
              <a:rPr dirty="0" sz="3300" spc="-135">
                <a:solidFill>
                  <a:srgbClr val="000000"/>
                </a:solidFill>
              </a:rPr>
              <a:t> </a:t>
            </a:r>
            <a:r>
              <a:rPr dirty="0" sz="3300" spc="-25">
                <a:solidFill>
                  <a:srgbClr val="000000"/>
                </a:solidFill>
              </a:rPr>
              <a:t>confirmation</a:t>
            </a:r>
            <a:r>
              <a:rPr dirty="0" sz="3300" spc="-85">
                <a:solidFill>
                  <a:srgbClr val="000000"/>
                </a:solidFill>
              </a:rPr>
              <a:t> </a:t>
            </a:r>
            <a:r>
              <a:rPr dirty="0" sz="3300">
                <a:solidFill>
                  <a:srgbClr val="000000"/>
                </a:solidFill>
              </a:rPr>
              <a:t>du</a:t>
            </a:r>
            <a:r>
              <a:rPr dirty="0" sz="3300" spc="-210">
                <a:solidFill>
                  <a:srgbClr val="000000"/>
                </a:solidFill>
              </a:rPr>
              <a:t> </a:t>
            </a:r>
            <a:r>
              <a:rPr dirty="0" sz="3300" spc="-20">
                <a:solidFill>
                  <a:srgbClr val="000000"/>
                </a:solidFill>
              </a:rPr>
              <a:t>rôle</a:t>
            </a:r>
            <a:r>
              <a:rPr dirty="0" sz="3300" spc="-175">
                <a:solidFill>
                  <a:srgbClr val="000000"/>
                </a:solidFill>
              </a:rPr>
              <a:t> </a:t>
            </a:r>
            <a:r>
              <a:rPr dirty="0" sz="3300" spc="-20">
                <a:solidFill>
                  <a:srgbClr val="000000"/>
                </a:solidFill>
              </a:rPr>
              <a:t>scientifique</a:t>
            </a:r>
            <a:r>
              <a:rPr dirty="0" sz="3300" spc="-85">
                <a:solidFill>
                  <a:srgbClr val="000000"/>
                </a:solidFill>
              </a:rPr>
              <a:t> </a:t>
            </a:r>
            <a:r>
              <a:rPr dirty="0" sz="3300" spc="-25">
                <a:solidFill>
                  <a:srgbClr val="000000"/>
                </a:solidFill>
              </a:rPr>
              <a:t>et </a:t>
            </a:r>
            <a:r>
              <a:rPr dirty="0" sz="3300" spc="-10">
                <a:solidFill>
                  <a:srgbClr val="000000"/>
                </a:solidFill>
              </a:rPr>
              <a:t>protecteur</a:t>
            </a:r>
            <a:r>
              <a:rPr dirty="0" sz="3300" spc="30">
                <a:solidFill>
                  <a:srgbClr val="000000"/>
                </a:solidFill>
              </a:rPr>
              <a:t> </a:t>
            </a:r>
            <a:r>
              <a:rPr dirty="0" sz="3300">
                <a:solidFill>
                  <a:srgbClr val="000000"/>
                </a:solidFill>
              </a:rPr>
              <a:t>du</a:t>
            </a:r>
            <a:r>
              <a:rPr dirty="0" sz="3300" spc="-225">
                <a:solidFill>
                  <a:srgbClr val="000000"/>
                </a:solidFill>
              </a:rPr>
              <a:t> </a:t>
            </a:r>
            <a:r>
              <a:rPr dirty="0" sz="3300" spc="-30">
                <a:solidFill>
                  <a:srgbClr val="000000"/>
                </a:solidFill>
              </a:rPr>
              <a:t>technicien</a:t>
            </a:r>
            <a:r>
              <a:rPr dirty="0" sz="3300" spc="-170">
                <a:solidFill>
                  <a:srgbClr val="000000"/>
                </a:solidFill>
              </a:rPr>
              <a:t> </a:t>
            </a:r>
            <a:r>
              <a:rPr dirty="0" sz="3300">
                <a:solidFill>
                  <a:srgbClr val="000000"/>
                </a:solidFill>
              </a:rPr>
              <a:t>en</a:t>
            </a:r>
            <a:r>
              <a:rPr dirty="0" sz="3300" spc="-185">
                <a:solidFill>
                  <a:srgbClr val="000000"/>
                </a:solidFill>
              </a:rPr>
              <a:t> </a:t>
            </a:r>
            <a:r>
              <a:rPr dirty="0" sz="3300" spc="-20">
                <a:solidFill>
                  <a:srgbClr val="000000"/>
                </a:solidFill>
              </a:rPr>
              <a:t>radiologie.</a:t>
            </a:r>
            <a:endParaRPr sz="3300"/>
          </a:p>
        </p:txBody>
      </p:sp>
      <p:sp>
        <p:nvSpPr>
          <p:cNvPr id="6" name="object 6" descr=""/>
          <p:cNvSpPr txBox="1"/>
          <p:nvPr/>
        </p:nvSpPr>
        <p:spPr>
          <a:xfrm>
            <a:off x="5701517" y="6051902"/>
            <a:ext cx="6028690" cy="3575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1275">
              <a:lnSpc>
                <a:spcPts val="3335"/>
              </a:lnSpc>
              <a:spcBef>
                <a:spcPts val="95"/>
              </a:spcBef>
            </a:pPr>
            <a:r>
              <a:rPr dirty="0" sz="2850" spc="-10">
                <a:latin typeface="Arial MT"/>
                <a:cs typeface="Arial MT"/>
              </a:rPr>
              <a:t>Projet</a:t>
            </a:r>
            <a:r>
              <a:rPr dirty="0" sz="2850" spc="-105">
                <a:latin typeface="Arial MT"/>
                <a:cs typeface="Arial MT"/>
              </a:rPr>
              <a:t> </a:t>
            </a:r>
            <a:r>
              <a:rPr dirty="0" sz="2850" spc="-35">
                <a:latin typeface="Arial MT"/>
                <a:cs typeface="Arial MT"/>
              </a:rPr>
              <a:t>réalisé</a:t>
            </a:r>
            <a:r>
              <a:rPr dirty="0" sz="2850" spc="-16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par</a:t>
            </a:r>
            <a:r>
              <a:rPr dirty="0" sz="2850" spc="-135">
                <a:latin typeface="Arial MT"/>
                <a:cs typeface="Arial MT"/>
              </a:rPr>
              <a:t> </a:t>
            </a:r>
            <a:r>
              <a:rPr dirty="0" sz="2850" spc="-50">
                <a:latin typeface="Arial MT"/>
                <a:cs typeface="Arial MT"/>
              </a:rPr>
              <a:t>:</a:t>
            </a:r>
            <a:endParaRPr sz="2850">
              <a:latin typeface="Arial MT"/>
              <a:cs typeface="Arial MT"/>
            </a:endParaRPr>
          </a:p>
          <a:p>
            <a:pPr algn="ctr" marL="31750">
              <a:lnSpc>
                <a:spcPts val="3335"/>
              </a:lnSpc>
            </a:pPr>
            <a:r>
              <a:rPr dirty="0" sz="2850">
                <a:latin typeface="Arial MT"/>
                <a:cs typeface="Arial MT"/>
              </a:rPr>
              <a:t>lmiz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Sofiane</a:t>
            </a:r>
            <a:r>
              <a:rPr dirty="0" sz="2850" spc="-35">
                <a:latin typeface="Arial MT"/>
                <a:cs typeface="Arial MT"/>
              </a:rPr>
              <a:t> </a:t>
            </a:r>
            <a:r>
              <a:rPr dirty="0" sz="2850" spc="-85">
                <a:latin typeface="Arial MT"/>
                <a:cs typeface="Arial MT"/>
              </a:rPr>
              <a:t>&amp;</a:t>
            </a:r>
            <a:r>
              <a:rPr dirty="0" sz="2850" spc="-215">
                <a:latin typeface="Arial MT"/>
                <a:cs typeface="Arial MT"/>
              </a:rPr>
              <a:t> </a:t>
            </a:r>
            <a:r>
              <a:rPr dirty="0" sz="2850" spc="50">
                <a:latin typeface="Arial MT"/>
                <a:cs typeface="Arial MT"/>
              </a:rPr>
              <a:t>Meskini</a:t>
            </a:r>
            <a:r>
              <a:rPr dirty="0" sz="2850">
                <a:latin typeface="Arial MT"/>
                <a:cs typeface="Arial MT"/>
              </a:rPr>
              <a:t> </a:t>
            </a:r>
            <a:r>
              <a:rPr dirty="0" sz="2850" spc="-20">
                <a:latin typeface="Arial MT"/>
                <a:cs typeface="Arial MT"/>
              </a:rPr>
              <a:t>Amal</a:t>
            </a:r>
            <a:endParaRPr sz="2850">
              <a:latin typeface="Arial MT"/>
              <a:cs typeface="Arial MT"/>
            </a:endParaRPr>
          </a:p>
          <a:p>
            <a:pPr algn="ctr" marL="31115">
              <a:lnSpc>
                <a:spcPts val="3390"/>
              </a:lnSpc>
              <a:spcBef>
                <a:spcPts val="1630"/>
              </a:spcBef>
            </a:pPr>
            <a:r>
              <a:rPr dirty="0" sz="2900" spc="50">
                <a:latin typeface="Calibri"/>
                <a:cs typeface="Calibri"/>
              </a:rPr>
              <a:t>Encadrement</a:t>
            </a:r>
            <a:r>
              <a:rPr dirty="0" sz="2900" spc="265">
                <a:latin typeface="Calibri"/>
                <a:cs typeface="Calibri"/>
              </a:rPr>
              <a:t> </a:t>
            </a:r>
            <a:r>
              <a:rPr dirty="0" sz="2900" spc="-50">
                <a:latin typeface="Calibri"/>
                <a:cs typeface="Calibri"/>
              </a:rPr>
              <a:t>:</a:t>
            </a:r>
            <a:endParaRPr sz="2900">
              <a:latin typeface="Calibri"/>
              <a:cs typeface="Calibri"/>
            </a:endParaRPr>
          </a:p>
          <a:p>
            <a:pPr algn="ctr">
              <a:lnSpc>
                <a:spcPts val="3295"/>
              </a:lnSpc>
            </a:pPr>
            <a:r>
              <a:rPr dirty="0" sz="2850" spc="-130">
                <a:latin typeface="Arial MT"/>
                <a:cs typeface="Arial MT"/>
              </a:rPr>
              <a:t>Pr.</a:t>
            </a:r>
            <a:r>
              <a:rPr dirty="0" sz="2850" spc="-9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F.</a:t>
            </a:r>
            <a:r>
              <a:rPr dirty="0" sz="2850" spc="-200">
                <a:latin typeface="Arial MT"/>
                <a:cs typeface="Arial MT"/>
              </a:rPr>
              <a:t> </a:t>
            </a:r>
            <a:r>
              <a:rPr dirty="0" sz="2850" spc="-50">
                <a:latin typeface="Arial MT"/>
                <a:cs typeface="Arial MT"/>
              </a:rPr>
              <a:t>Assaoui </a:t>
            </a:r>
            <a:r>
              <a:rPr dirty="0" sz="2850" spc="-10">
                <a:latin typeface="Arial MT"/>
                <a:cs typeface="Arial MT"/>
              </a:rPr>
              <a:t>(Interne)</a:t>
            </a:r>
            <a:endParaRPr sz="2850">
              <a:latin typeface="Arial MT"/>
              <a:cs typeface="Arial MT"/>
            </a:endParaRPr>
          </a:p>
          <a:p>
            <a:pPr algn="ctr">
              <a:lnSpc>
                <a:spcPts val="3265"/>
              </a:lnSpc>
            </a:pPr>
            <a:r>
              <a:rPr dirty="0" sz="2750">
                <a:latin typeface="Arial MT"/>
                <a:cs typeface="Arial MT"/>
              </a:rPr>
              <a:t>Mr.</a:t>
            </a:r>
            <a:r>
              <a:rPr dirty="0" sz="2750" spc="-110">
                <a:latin typeface="Arial MT"/>
                <a:cs typeface="Arial MT"/>
              </a:rPr>
              <a:t> </a:t>
            </a:r>
            <a:r>
              <a:rPr dirty="0" sz="2750" spc="-130">
                <a:latin typeface="Arial MT"/>
                <a:cs typeface="Arial MT"/>
              </a:rPr>
              <a:t>R.</a:t>
            </a:r>
            <a:r>
              <a:rPr dirty="0" sz="2750" spc="4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Afkhari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&amp;</a:t>
            </a:r>
            <a:r>
              <a:rPr dirty="0" sz="2750" spc="-75">
                <a:latin typeface="Arial MT"/>
                <a:cs typeface="Arial MT"/>
              </a:rPr>
              <a:t> </a:t>
            </a:r>
            <a:r>
              <a:rPr dirty="0" sz="2750" spc="-70">
                <a:latin typeface="Arial MT"/>
                <a:cs typeface="Arial MT"/>
              </a:rPr>
              <a:t>Pr.</a:t>
            </a:r>
            <a:r>
              <a:rPr dirty="0" sz="2750" spc="-85">
                <a:latin typeface="Arial MT"/>
                <a:cs typeface="Arial MT"/>
              </a:rPr>
              <a:t> </a:t>
            </a:r>
            <a:r>
              <a:rPr dirty="0" sz="2750" spc="-135">
                <a:latin typeface="Arial MT"/>
                <a:cs typeface="Arial MT"/>
              </a:rPr>
              <a:t>Y.</a:t>
            </a:r>
            <a:r>
              <a:rPr dirty="0" sz="2750" spc="-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Omor</a:t>
            </a:r>
            <a:r>
              <a:rPr dirty="0" sz="2750" spc="2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(Externes)</a:t>
            </a:r>
            <a:endParaRPr sz="2750">
              <a:latin typeface="Arial MT"/>
              <a:cs typeface="Arial MT"/>
            </a:endParaRPr>
          </a:p>
          <a:p>
            <a:pPr algn="ctr" marL="29845">
              <a:lnSpc>
                <a:spcPct val="100000"/>
              </a:lnSpc>
              <a:spcBef>
                <a:spcPts val="1650"/>
              </a:spcBef>
            </a:pPr>
            <a:r>
              <a:rPr dirty="0" sz="2900" spc="-50">
                <a:latin typeface="Arial MT"/>
                <a:cs typeface="Arial MT"/>
              </a:rPr>
              <a:t>Logos</a:t>
            </a:r>
            <a:r>
              <a:rPr dirty="0" sz="2900" spc="-150">
                <a:latin typeface="Arial MT"/>
                <a:cs typeface="Arial MT"/>
              </a:rPr>
              <a:t> </a:t>
            </a:r>
            <a:r>
              <a:rPr dirty="0" sz="2900" spc="-50">
                <a:latin typeface="Arial MT"/>
                <a:cs typeface="Arial MT"/>
              </a:rPr>
              <a:t>:</a:t>
            </a:r>
            <a:endParaRPr sz="2900">
              <a:latin typeface="Arial MT"/>
              <a:cs typeface="Arial MT"/>
            </a:endParaRPr>
          </a:p>
          <a:p>
            <a:pPr algn="ctr" marR="51435">
              <a:lnSpc>
                <a:spcPct val="100000"/>
              </a:lnSpc>
              <a:spcBef>
                <a:spcPts val="70"/>
              </a:spcBef>
              <a:tabLst>
                <a:tab pos="1955164" algn="l"/>
              </a:tabLst>
            </a:pPr>
            <a:r>
              <a:rPr dirty="0" sz="3750" spc="-10">
                <a:solidFill>
                  <a:srgbClr val="081D46"/>
                </a:solidFill>
                <a:latin typeface="Cambria"/>
                <a:cs typeface="Cambria"/>
              </a:rPr>
              <a:t>ISPITS</a:t>
            </a:r>
            <a:r>
              <a:rPr dirty="0" sz="3750">
                <a:solidFill>
                  <a:srgbClr val="081D46"/>
                </a:solidFill>
                <a:latin typeface="Cambria"/>
                <a:cs typeface="Cambria"/>
              </a:rPr>
              <a:t>	</a:t>
            </a:r>
            <a:r>
              <a:rPr dirty="0" sz="3750" spc="-25">
                <a:solidFill>
                  <a:srgbClr val="0A2149"/>
                </a:solidFill>
                <a:latin typeface="Cambria"/>
                <a:cs typeface="Cambria"/>
              </a:rPr>
              <a:t>INO</a:t>
            </a:r>
            <a:endParaRPr sz="37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2026-02-05T10:48:04Z</dcterms:created>
  <dcterms:modified xsi:type="dcterms:W3CDTF">2026-02-05T10:48:04Z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LastSaved">
    <vt:filetime>2026-02-05T00:00:00Z</vt:filetime>
  </property>
</Properties>
</file>